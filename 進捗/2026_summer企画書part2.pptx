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5" r:id="rId1"/>
  </p:sldMasterIdLst>
  <p:sldIdLst>
    <p:sldId id="256" r:id="rId2"/>
    <p:sldId id="257" r:id="rId3"/>
    <p:sldId id="259" r:id="rId4"/>
    <p:sldId id="258" r:id="rId5"/>
    <p:sldId id="260" r:id="rId6"/>
    <p:sldId id="263" r:id="rId7"/>
    <p:sldId id="261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2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8806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881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3784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703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2686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299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202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7668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1794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パノラマ写真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3983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キャプ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6825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66968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4999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付きの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794507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または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26307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751133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8351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E80C50CD-E178-4744-9B35-B2F624D6C5E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11392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26" r:id="rId1"/>
    <p:sldLayoutId id="2147483827" r:id="rId2"/>
    <p:sldLayoutId id="2147483828" r:id="rId3"/>
    <p:sldLayoutId id="2147483829" r:id="rId4"/>
    <p:sldLayoutId id="2147483830" r:id="rId5"/>
    <p:sldLayoutId id="2147483831" r:id="rId6"/>
    <p:sldLayoutId id="2147483832" r:id="rId7"/>
    <p:sldLayoutId id="2147483833" r:id="rId8"/>
    <p:sldLayoutId id="2147483834" r:id="rId9"/>
    <p:sldLayoutId id="2147483835" r:id="rId10"/>
    <p:sldLayoutId id="2147483836" r:id="rId11"/>
    <p:sldLayoutId id="2147483837" r:id="rId12"/>
    <p:sldLayoutId id="2147483838" r:id="rId13"/>
    <p:sldLayoutId id="2147483839" r:id="rId14"/>
    <p:sldLayoutId id="2147483840" r:id="rId15"/>
    <p:sldLayoutId id="2147483841" r:id="rId16"/>
    <p:sldLayoutId id="2147483842" r:id="rId17"/>
  </p:sldLayoutIdLst>
  <p:txStyles>
    <p:titleStyle>
      <a:lvl1pPr algn="l" defTabSz="457200" rtl="0" eaLnBrk="1" latinLnBrk="0" hangingPunct="1">
        <a:spcBef>
          <a:spcPct val="0"/>
        </a:spcBef>
        <a:buNone/>
        <a:defRPr kumimoji="1"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8">
            <a:extLst>
              <a:ext uri="{FF2B5EF4-FFF2-40B4-BE49-F238E27FC236}">
                <a16:creationId xmlns:a16="http://schemas.microsoft.com/office/drawing/2014/main" id="{01E688E0-C729-4E49-9E7B-4697607DB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9FD72C-2790-48C4-3831-85C6479A964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19000"/>
          </a:blip>
          <a:srcRect/>
          <a:stretch>
            <a:fillRect/>
          </a:stretch>
        </p:blipFill>
        <p:spPr>
          <a:xfrm>
            <a:off x="12180" y="9144"/>
            <a:ext cx="12191980" cy="6857990"/>
          </a:xfrm>
          <a:prstGeom prst="rect">
            <a:avLst/>
          </a:prstGeom>
        </p:spPr>
      </p:pic>
      <p:grpSp>
        <p:nvGrpSpPr>
          <p:cNvPr id="7" name="Group 10">
            <a:extLst>
              <a:ext uri="{FF2B5EF4-FFF2-40B4-BE49-F238E27FC236}">
                <a16:creationId xmlns:a16="http://schemas.microsoft.com/office/drawing/2014/main" id="{AAD89D74-79DD-4BE2-AA8C-8672382F25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08170" y="9144"/>
            <a:ext cx="6080656" cy="6163733"/>
            <a:chOff x="6108170" y="8467"/>
            <a:chExt cx="6080656" cy="6163733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A020D6D-57F1-4846-9467-5E54F5B88A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8228012" y="8467"/>
              <a:ext cx="3810000" cy="3810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BA67610-3DFA-4B04-A0F3-FFBF2C97E8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6108170" y="91545"/>
              <a:ext cx="6080655" cy="608065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6F9FAA7-B1F5-4E7B-BEC6-00158A5F05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235825" y="228600"/>
              <a:ext cx="4953000" cy="4953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4174CF9-D8AD-4A5C-BF99-57B43506DA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335837" y="32278"/>
              <a:ext cx="4852989" cy="485298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76B22A1-F450-4EAF-A363-7222D3D52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845426" y="609601"/>
              <a:ext cx="4343399" cy="434339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1E582F0-B62A-0A3D-1733-5AD4508726F0}"/>
              </a:ext>
            </a:extLst>
          </p:cNvPr>
          <p:cNvSpPr txBox="1"/>
          <p:nvPr/>
        </p:nvSpPr>
        <p:spPr>
          <a:xfrm>
            <a:off x="3628626" y="83078"/>
            <a:ext cx="452239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9600" b="1" spc="3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NINJA4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BBD399E-97D9-B6AB-D335-687CAB95C9BA}"/>
              </a:ext>
            </a:extLst>
          </p:cNvPr>
          <p:cNvSpPr txBox="1"/>
          <p:nvPr/>
        </p:nvSpPr>
        <p:spPr>
          <a:xfrm>
            <a:off x="7335837" y="5223505"/>
            <a:ext cx="56637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ジャンル：</a:t>
            </a:r>
            <a:r>
              <a:rPr kumimoji="1" lang="en-US" altLang="ja-JP" sz="2400" dirty="0">
                <a:solidFill>
                  <a:schemeClr val="bg1"/>
                </a:solidFill>
              </a:rPr>
              <a:t>3D</a:t>
            </a:r>
            <a:r>
              <a:rPr kumimoji="1" lang="ja-JP" altLang="en-US" sz="2400" dirty="0">
                <a:solidFill>
                  <a:schemeClr val="bg1"/>
                </a:solidFill>
              </a:rPr>
              <a:t>アクション</a:t>
            </a:r>
            <a:br>
              <a:rPr kumimoji="1" lang="en-US" altLang="ja-JP" sz="2400" dirty="0">
                <a:solidFill>
                  <a:schemeClr val="bg1"/>
                </a:solidFill>
              </a:rPr>
            </a:br>
            <a:r>
              <a:rPr kumimoji="1" lang="ja-JP" altLang="en-US" sz="2400" dirty="0">
                <a:solidFill>
                  <a:schemeClr val="bg1"/>
                </a:solidFill>
              </a:rPr>
              <a:t>プレイ人数：</a:t>
            </a:r>
            <a:r>
              <a:rPr kumimoji="1" lang="en-US" altLang="ja-JP" sz="2400" dirty="0">
                <a:solidFill>
                  <a:schemeClr val="bg1"/>
                </a:solidFill>
              </a:rPr>
              <a:t>1</a:t>
            </a:r>
            <a:r>
              <a:rPr kumimoji="1" lang="ja-JP" altLang="en-US" sz="2400" dirty="0">
                <a:solidFill>
                  <a:schemeClr val="bg1"/>
                </a:solidFill>
              </a:rPr>
              <a:t>人プレイ</a:t>
            </a:r>
            <a:br>
              <a:rPr kumimoji="1" lang="en-US" altLang="ja-JP" sz="2400" dirty="0">
                <a:solidFill>
                  <a:schemeClr val="bg1"/>
                </a:solidFill>
              </a:rPr>
            </a:br>
            <a:r>
              <a:rPr kumimoji="1" lang="ja-JP" altLang="en-US" sz="2400" dirty="0">
                <a:solidFill>
                  <a:schemeClr val="bg1"/>
                </a:solidFill>
              </a:rPr>
              <a:t>プラットフォーム：</a:t>
            </a:r>
            <a:r>
              <a:rPr kumimoji="1" lang="en-US" altLang="ja-JP" sz="2400" dirty="0">
                <a:solidFill>
                  <a:schemeClr val="bg1"/>
                </a:solidFill>
              </a:rPr>
              <a:t>Windows</a:t>
            </a:r>
            <a:endParaRPr kumimoji="1" lang="ja-JP" altLang="en-US" sz="2400" dirty="0">
              <a:solidFill>
                <a:schemeClr val="bg1"/>
              </a:solidFill>
            </a:endParaRPr>
          </a:p>
        </p:txBody>
      </p:sp>
      <p:pic>
        <p:nvPicPr>
          <p:cNvPr id="2" name="図 1" descr="NINJA GAIDEN 4』: Game Pass で配信中 | Xbox">
            <a:extLst>
              <a:ext uri="{FF2B5EF4-FFF2-40B4-BE49-F238E27FC236}">
                <a16:creationId xmlns:a16="http://schemas.microsoft.com/office/drawing/2014/main" id="{6F043609-F748-6948-8FFC-A44D6DE719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4" y="1602170"/>
            <a:ext cx="4803868" cy="4803868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chemeClr val="bg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0127600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インタビュー］「NINJA GAIDEN 4」はなぜ新たな血を必要としたのか。Team NINJA安田文彦氏，プラチナゲームズ中尾裕治氏に聞く">
            <a:extLst>
              <a:ext uri="{FF2B5EF4-FFF2-40B4-BE49-F238E27FC236}">
                <a16:creationId xmlns:a16="http://schemas.microsoft.com/office/drawing/2014/main" id="{4BC963CD-9AD2-68E0-DA8D-75C9ED98441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7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E0513FD5-E2BE-FCEC-3554-44D60E8C1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3454" y="254697"/>
            <a:ext cx="8534400" cy="1507067"/>
          </a:xfrm>
        </p:spPr>
        <p:txBody>
          <a:bodyPr>
            <a:normAutofit/>
          </a:bodyPr>
          <a:lstStyle/>
          <a:p>
            <a:pPr algn="ctr"/>
            <a:r>
              <a:rPr lang="ja-JP" altLang="en-US" sz="8800" dirty="0">
                <a:solidFill>
                  <a:schemeClr val="bg1"/>
                </a:solidFill>
                <a:highlight>
                  <a:srgbClr val="FFFF00"/>
                </a:highlight>
              </a:rPr>
              <a:t>コンセプト</a:t>
            </a:r>
            <a:endParaRPr kumimoji="1" lang="ja-JP" altLang="en-US" sz="8800" dirty="0">
              <a:solidFill>
                <a:schemeClr val="bg1"/>
              </a:solidFill>
              <a:highlight>
                <a:srgbClr val="FFFF00"/>
              </a:highlight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0D041DB-0389-1C20-A77E-F4A383363487}"/>
              </a:ext>
            </a:extLst>
          </p:cNvPr>
          <p:cNvSpPr txBox="1"/>
          <p:nvPr/>
        </p:nvSpPr>
        <p:spPr>
          <a:xfrm>
            <a:off x="2338774" y="4662604"/>
            <a:ext cx="572143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b="1" dirty="0">
                <a:solidFill>
                  <a:schemeClr val="bg1"/>
                </a:solidFill>
                <a:highlight>
                  <a:srgbClr val="FFFF00"/>
                </a:highlight>
              </a:rPr>
              <a:t>派手な必殺技アクション</a:t>
            </a:r>
          </a:p>
        </p:txBody>
      </p:sp>
    </p:spTree>
    <p:extLst>
      <p:ext uri="{BB962C8B-B14F-4D97-AF65-F5344CB8AC3E}">
        <p14:creationId xmlns:p14="http://schemas.microsoft.com/office/powerpoint/2010/main" val="25642372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7C17F12-DDD3-917F-6821-D17D426898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384" y="137401"/>
            <a:ext cx="8534400" cy="1507067"/>
          </a:xfrm>
        </p:spPr>
        <p:txBody>
          <a:bodyPr>
            <a:normAutofit/>
          </a:bodyPr>
          <a:lstStyle/>
          <a:p>
            <a:r>
              <a:rPr kumimoji="1" lang="ja-JP" altLang="en-US" sz="5400" dirty="0">
                <a:solidFill>
                  <a:schemeClr val="bg1"/>
                </a:solidFill>
              </a:rPr>
              <a:t>ゲーム概要</a:t>
            </a:r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8C85823-8206-A90C-0C97-F12782AB09C0}"/>
              </a:ext>
            </a:extLst>
          </p:cNvPr>
          <p:cNvGrpSpPr/>
          <p:nvPr/>
        </p:nvGrpSpPr>
        <p:grpSpPr>
          <a:xfrm>
            <a:off x="1186890" y="1731319"/>
            <a:ext cx="1809750" cy="5001798"/>
            <a:chOff x="970990" y="1362770"/>
            <a:chExt cx="1809750" cy="5001798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DD40F036-D24B-EA1D-751F-EC5246827258}"/>
                </a:ext>
              </a:extLst>
            </p:cNvPr>
            <p:cNvSpPr/>
            <p:nvPr/>
          </p:nvSpPr>
          <p:spPr>
            <a:xfrm>
              <a:off x="1559859" y="1460318"/>
              <a:ext cx="632012" cy="4904250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楕円 6">
              <a:extLst>
                <a:ext uri="{FF2B5EF4-FFF2-40B4-BE49-F238E27FC236}">
                  <a16:creationId xmlns:a16="http://schemas.microsoft.com/office/drawing/2014/main" id="{FA456704-3739-6A12-3F7D-4E13C7DCE384}"/>
                </a:ext>
              </a:extLst>
            </p:cNvPr>
            <p:cNvSpPr/>
            <p:nvPr/>
          </p:nvSpPr>
          <p:spPr>
            <a:xfrm>
              <a:off x="970990" y="4572000"/>
              <a:ext cx="1809750" cy="1066800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楕円 7">
              <a:extLst>
                <a:ext uri="{FF2B5EF4-FFF2-40B4-BE49-F238E27FC236}">
                  <a16:creationId xmlns:a16="http://schemas.microsoft.com/office/drawing/2014/main" id="{C6FEC104-E853-34B9-BCBC-F946CBC3E9E5}"/>
                </a:ext>
              </a:extLst>
            </p:cNvPr>
            <p:cNvSpPr/>
            <p:nvPr/>
          </p:nvSpPr>
          <p:spPr>
            <a:xfrm>
              <a:off x="970990" y="2967385"/>
              <a:ext cx="1809750" cy="1066800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楕円 8">
              <a:extLst>
                <a:ext uri="{FF2B5EF4-FFF2-40B4-BE49-F238E27FC236}">
                  <a16:creationId xmlns:a16="http://schemas.microsoft.com/office/drawing/2014/main" id="{EFC14CCF-101C-2434-237E-06FFA3587016}"/>
                </a:ext>
              </a:extLst>
            </p:cNvPr>
            <p:cNvSpPr/>
            <p:nvPr/>
          </p:nvSpPr>
          <p:spPr>
            <a:xfrm>
              <a:off x="970990" y="1362770"/>
              <a:ext cx="1809750" cy="1066800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CF2448D4-12CE-7678-49AC-2BFD29BABFBC}"/>
              </a:ext>
            </a:extLst>
          </p:cNvPr>
          <p:cNvSpPr txBox="1"/>
          <p:nvPr/>
        </p:nvSpPr>
        <p:spPr>
          <a:xfrm>
            <a:off x="1295400" y="141076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solidFill>
                  <a:schemeClr val="bg1"/>
                </a:solidFill>
              </a:rPr>
              <a:t>【</a:t>
            </a:r>
            <a:r>
              <a:rPr kumimoji="1" lang="ja-JP" altLang="en-US" dirty="0">
                <a:solidFill>
                  <a:schemeClr val="bg1"/>
                </a:solidFill>
              </a:rPr>
              <a:t>ステージ図</a:t>
            </a:r>
            <a:r>
              <a:rPr kumimoji="1" lang="en-US" altLang="ja-JP" dirty="0">
                <a:solidFill>
                  <a:schemeClr val="bg1"/>
                </a:solidFill>
              </a:rPr>
              <a:t>】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5959898-2E19-2039-3D78-1C2EF01B22C7}"/>
              </a:ext>
            </a:extLst>
          </p:cNvPr>
          <p:cNvSpPr txBox="1"/>
          <p:nvPr/>
        </p:nvSpPr>
        <p:spPr>
          <a:xfrm>
            <a:off x="3828151" y="1828867"/>
            <a:ext cx="2109873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dirty="0">
                <a:solidFill>
                  <a:schemeClr val="bg1"/>
                </a:solidFill>
              </a:rPr>
              <a:t>1</a:t>
            </a:r>
            <a:r>
              <a:rPr kumimoji="1" lang="ja-JP" altLang="en-US" sz="2800" dirty="0">
                <a:solidFill>
                  <a:schemeClr val="bg1"/>
                </a:solidFill>
              </a:rPr>
              <a:t>本道</a:t>
            </a:r>
            <a:endParaRPr kumimoji="1" lang="en-US" altLang="ja-JP" sz="2800" dirty="0">
              <a:solidFill>
                <a:schemeClr val="bg1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en-US" altLang="ja-JP" sz="2800" dirty="0">
                <a:solidFill>
                  <a:schemeClr val="bg1"/>
                </a:solidFill>
              </a:rPr>
              <a:t>3Wave</a:t>
            </a:r>
            <a:r>
              <a:rPr kumimoji="1" lang="ja-JP" altLang="en-US" sz="2800" dirty="0">
                <a:solidFill>
                  <a:schemeClr val="bg1"/>
                </a:solidFill>
              </a:rPr>
              <a:t>制</a:t>
            </a:r>
            <a:br>
              <a:rPr kumimoji="1" lang="en-US" altLang="ja-JP" sz="2800" dirty="0">
                <a:solidFill>
                  <a:schemeClr val="bg1"/>
                </a:solidFill>
              </a:rPr>
            </a:br>
            <a:endParaRPr kumimoji="1" lang="ja-JP" altLang="en-US" sz="2800" dirty="0">
              <a:solidFill>
                <a:schemeClr val="bg1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6DC4E86-D9DE-B4FC-429D-0525C1C8FB00}"/>
              </a:ext>
            </a:extLst>
          </p:cNvPr>
          <p:cNvSpPr txBox="1"/>
          <p:nvPr/>
        </p:nvSpPr>
        <p:spPr>
          <a:xfrm>
            <a:off x="3985765" y="3644139"/>
            <a:ext cx="319991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雑魚敵：</a:t>
            </a:r>
            <a:r>
              <a:rPr kumimoji="1" lang="en-US" altLang="ja-JP" dirty="0">
                <a:solidFill>
                  <a:schemeClr val="bg1"/>
                </a:solidFill>
              </a:rPr>
              <a:t>2-3</a:t>
            </a:r>
            <a:r>
              <a:rPr kumimoji="1" lang="ja-JP" altLang="en-US" dirty="0">
                <a:solidFill>
                  <a:schemeClr val="bg1"/>
                </a:solidFill>
              </a:rPr>
              <a:t>種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中ボス：</a:t>
            </a:r>
            <a:r>
              <a:rPr kumimoji="1" lang="en-US" altLang="ja-JP" dirty="0">
                <a:solidFill>
                  <a:schemeClr val="bg1"/>
                </a:solidFill>
              </a:rPr>
              <a:t>1</a:t>
            </a:r>
            <a:r>
              <a:rPr kumimoji="1" lang="ja-JP" altLang="en-US" dirty="0">
                <a:solidFill>
                  <a:schemeClr val="bg1"/>
                </a:solidFill>
              </a:rPr>
              <a:t>種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ボス</a:t>
            </a:r>
            <a:r>
              <a:rPr kumimoji="1" lang="en-US" altLang="ja-JP" dirty="0">
                <a:solidFill>
                  <a:schemeClr val="bg1"/>
                </a:solidFill>
              </a:rPr>
              <a:t>1</a:t>
            </a:r>
            <a:r>
              <a:rPr kumimoji="1" lang="ja-JP" altLang="en-US" dirty="0">
                <a:solidFill>
                  <a:schemeClr val="bg1"/>
                </a:solidFill>
              </a:rPr>
              <a:t>種</a:t>
            </a:r>
            <a:endParaRPr kumimoji="1" lang="en-US" altLang="ja-JP" dirty="0">
              <a:solidFill>
                <a:schemeClr val="bg1"/>
              </a:solidFill>
            </a:endParaRPr>
          </a:p>
          <a:p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ステージ数：</a:t>
            </a:r>
            <a:r>
              <a:rPr kumimoji="1" lang="en-US" altLang="ja-JP" dirty="0">
                <a:solidFill>
                  <a:schemeClr val="bg1"/>
                </a:solidFill>
              </a:rPr>
              <a:t>1~2</a:t>
            </a:r>
            <a:r>
              <a:rPr kumimoji="1" lang="ja-JP" altLang="en-US" dirty="0">
                <a:solidFill>
                  <a:schemeClr val="bg1"/>
                </a:solidFill>
              </a:rPr>
              <a:t>ステージ</a:t>
            </a:r>
            <a:br>
              <a:rPr kumimoji="1" lang="en-US" altLang="ja-JP" dirty="0">
                <a:solidFill>
                  <a:schemeClr val="bg1"/>
                </a:solidFill>
              </a:rPr>
            </a:br>
            <a:endParaRPr kumimoji="1" lang="ja-JP" altLang="en-US" dirty="0">
              <a:solidFill>
                <a:schemeClr val="bg1"/>
              </a:solidFill>
            </a:endParaRPr>
          </a:p>
        </p:txBody>
      </p:sp>
      <p:pic>
        <p:nvPicPr>
          <p:cNvPr id="3" name="図 2" descr="NINJA GAIDEN 4』先行レビュー。血しぶき舞うハイスピード忍者バトルは最高！  ただし攻撃が気持ちよすぎて防御を忘れるとすぐゲームオーバーに【SGF2025】 | ゲーム・エンタメ最新情報のファミ通.com">
            <a:extLst>
              <a:ext uri="{FF2B5EF4-FFF2-40B4-BE49-F238E27FC236}">
                <a16:creationId xmlns:a16="http://schemas.microsoft.com/office/drawing/2014/main" id="{BD78D4B2-3B5C-6A1C-069B-A596919FB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9742" y="360109"/>
            <a:ext cx="5078487" cy="285375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66080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6FE4787-4B4C-A93C-7FC6-C12F63A3725C}"/>
              </a:ext>
            </a:extLst>
          </p:cNvPr>
          <p:cNvSpPr txBox="1"/>
          <p:nvPr/>
        </p:nvSpPr>
        <p:spPr>
          <a:xfrm>
            <a:off x="352698" y="483326"/>
            <a:ext cx="428835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b="1" dirty="0">
                <a:solidFill>
                  <a:schemeClr val="bg1"/>
                </a:solidFill>
              </a:rPr>
              <a:t>プレイヤーの操作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E0080DA-B731-B659-C762-4C63C5FA9194}"/>
              </a:ext>
            </a:extLst>
          </p:cNvPr>
          <p:cNvSpPr txBox="1"/>
          <p:nvPr/>
        </p:nvSpPr>
        <p:spPr>
          <a:xfrm>
            <a:off x="708144" y="1191212"/>
            <a:ext cx="5565947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800" b="1" u="sng" dirty="0">
                <a:solidFill>
                  <a:schemeClr val="bg1"/>
                </a:solidFill>
              </a:rPr>
              <a:t>通常攻撃</a:t>
            </a:r>
            <a:endParaRPr kumimoji="1" lang="en-US" altLang="ja-JP" sz="2800" b="1" u="sng" dirty="0">
              <a:solidFill>
                <a:schemeClr val="bg1"/>
              </a:solidFill>
            </a:endParaRP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弱攻撃</a:t>
            </a:r>
            <a:r>
              <a:rPr kumimoji="1" lang="en-US" altLang="ja-JP" b="1" dirty="0">
                <a:solidFill>
                  <a:schemeClr val="bg1"/>
                </a:solidFill>
              </a:rPr>
              <a:t>(</a:t>
            </a:r>
            <a:r>
              <a:rPr kumimoji="1" lang="ja-JP" altLang="en-US" b="1" dirty="0">
                <a:solidFill>
                  <a:schemeClr val="bg1"/>
                </a:solidFill>
              </a:rPr>
              <a:t>弱攻撃</a:t>
            </a:r>
            <a:r>
              <a:rPr kumimoji="1" lang="en-US" altLang="ja-JP" b="1" dirty="0">
                <a:solidFill>
                  <a:schemeClr val="bg1"/>
                </a:solidFill>
              </a:rPr>
              <a:t>5</a:t>
            </a:r>
            <a:r>
              <a:rPr kumimoji="1" lang="ja-JP" altLang="en-US" b="1" dirty="0">
                <a:solidFill>
                  <a:schemeClr val="bg1"/>
                </a:solidFill>
              </a:rPr>
              <a:t>段</a:t>
            </a:r>
            <a:r>
              <a:rPr kumimoji="1" lang="en-US" altLang="ja-JP" b="1" dirty="0">
                <a:solidFill>
                  <a:schemeClr val="bg1"/>
                </a:solidFill>
              </a:rPr>
              <a:t>)</a:t>
            </a: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強攻撃</a:t>
            </a:r>
            <a:r>
              <a:rPr kumimoji="1" lang="en-US" altLang="ja-JP" b="1" dirty="0">
                <a:solidFill>
                  <a:schemeClr val="bg1"/>
                </a:solidFill>
              </a:rPr>
              <a:t>(</a:t>
            </a:r>
            <a:r>
              <a:rPr kumimoji="1" lang="ja-JP" altLang="en-US" b="1" dirty="0">
                <a:solidFill>
                  <a:schemeClr val="bg1"/>
                </a:solidFill>
              </a:rPr>
              <a:t>少なめ、かつあっても</a:t>
            </a:r>
            <a:r>
              <a:rPr kumimoji="1" lang="en-US" altLang="ja-JP" b="1" dirty="0">
                <a:solidFill>
                  <a:schemeClr val="bg1"/>
                </a:solidFill>
              </a:rPr>
              <a:t>2</a:t>
            </a:r>
            <a:r>
              <a:rPr kumimoji="1" lang="ja-JP" altLang="en-US" b="1" dirty="0">
                <a:solidFill>
                  <a:schemeClr val="bg1"/>
                </a:solidFill>
              </a:rPr>
              <a:t>段まで</a:t>
            </a:r>
            <a:r>
              <a:rPr kumimoji="1" lang="en-US" altLang="ja-JP" b="1" dirty="0">
                <a:solidFill>
                  <a:schemeClr val="bg1"/>
                </a:solidFill>
              </a:rPr>
              <a:t>)</a:t>
            </a: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コンボ攻撃</a:t>
            </a:r>
            <a:r>
              <a:rPr kumimoji="1" lang="en-US" altLang="ja-JP" b="1" dirty="0">
                <a:solidFill>
                  <a:schemeClr val="bg1"/>
                </a:solidFill>
              </a:rPr>
              <a:t>(</a:t>
            </a:r>
            <a:r>
              <a:rPr kumimoji="1" lang="ja-JP" altLang="en-US" b="1" dirty="0">
                <a:solidFill>
                  <a:schemeClr val="bg1"/>
                </a:solidFill>
              </a:rPr>
              <a:t>割とある</a:t>
            </a:r>
            <a:r>
              <a:rPr kumimoji="1" lang="en-US" altLang="ja-JP" b="1" dirty="0">
                <a:solidFill>
                  <a:schemeClr val="bg1"/>
                </a:solidFill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800" b="1" u="sng" dirty="0">
                <a:solidFill>
                  <a:schemeClr val="bg1"/>
                </a:solidFill>
              </a:rPr>
              <a:t>ジャンプ</a:t>
            </a:r>
            <a:endParaRPr kumimoji="1" lang="en-US" altLang="ja-JP" sz="2800" b="1" u="sng" dirty="0">
              <a:solidFill>
                <a:schemeClr val="bg1"/>
              </a:solidFill>
            </a:endParaRPr>
          </a:p>
          <a:p>
            <a:pPr lvl="1"/>
            <a:r>
              <a:rPr kumimoji="1" lang="ja-JP" altLang="en-US" sz="2000" dirty="0">
                <a:solidFill>
                  <a:schemeClr val="bg1"/>
                </a:solidFill>
              </a:rPr>
              <a:t>空中コンボ</a:t>
            </a:r>
            <a:r>
              <a:rPr kumimoji="1" lang="en-US" altLang="ja-JP" sz="2000" dirty="0">
                <a:solidFill>
                  <a:schemeClr val="bg1"/>
                </a:solidFill>
              </a:rPr>
              <a:t>(</a:t>
            </a:r>
            <a:r>
              <a:rPr kumimoji="1" lang="ja-JP" altLang="en-US" sz="2000" dirty="0">
                <a:solidFill>
                  <a:schemeClr val="bg1"/>
                </a:solidFill>
              </a:rPr>
              <a:t>割とボリューミー</a:t>
            </a:r>
            <a:r>
              <a:rPr kumimoji="1" lang="en-US" altLang="ja-JP" sz="2000" dirty="0">
                <a:solidFill>
                  <a:schemeClr val="bg1"/>
                </a:solidFill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3200" b="1" u="sng" dirty="0">
                <a:solidFill>
                  <a:schemeClr val="bg1"/>
                </a:solidFill>
              </a:rPr>
              <a:t>スキル</a:t>
            </a:r>
            <a:endParaRPr kumimoji="1" lang="en-US" altLang="ja-JP" sz="3200" b="1" u="sng" dirty="0">
              <a:solidFill>
                <a:schemeClr val="bg1"/>
              </a:solidFill>
            </a:endParaRP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通常攻撃の強化版みたいなの</a:t>
            </a:r>
            <a:r>
              <a:rPr kumimoji="1" lang="en-US" altLang="ja-JP" b="1" dirty="0">
                <a:solidFill>
                  <a:schemeClr val="bg1"/>
                </a:solidFill>
              </a:rPr>
              <a:t>		 </a:t>
            </a:r>
            <a:br>
              <a:rPr kumimoji="1" lang="en-US" altLang="ja-JP" b="1" dirty="0">
                <a:solidFill>
                  <a:schemeClr val="bg1"/>
                </a:solidFill>
              </a:rPr>
            </a:br>
            <a:r>
              <a:rPr kumimoji="1" lang="en-US" altLang="ja-JP" b="1" dirty="0">
                <a:solidFill>
                  <a:schemeClr val="bg1"/>
                </a:solidFill>
              </a:rPr>
              <a:t>	X</a:t>
            </a:r>
            <a:r>
              <a:rPr kumimoji="1" lang="ja-JP" altLang="en-US" b="1" dirty="0">
                <a:solidFill>
                  <a:schemeClr val="bg1"/>
                </a:solidFill>
              </a:rPr>
              <a:t>と</a:t>
            </a:r>
            <a:r>
              <a:rPr kumimoji="1" lang="en-US" altLang="ja-JP" b="1" dirty="0">
                <a:solidFill>
                  <a:schemeClr val="bg1"/>
                </a:solidFill>
              </a:rPr>
              <a:t>Y</a:t>
            </a:r>
            <a:r>
              <a:rPr kumimoji="1" lang="ja-JP" altLang="en-US" b="1" dirty="0">
                <a:solidFill>
                  <a:schemeClr val="bg1"/>
                </a:solidFill>
              </a:rPr>
              <a:t>の</a:t>
            </a:r>
            <a:r>
              <a:rPr kumimoji="1" lang="en-US" altLang="ja-JP" b="1" dirty="0">
                <a:solidFill>
                  <a:schemeClr val="bg1"/>
                </a:solidFill>
              </a:rPr>
              <a:t>2</a:t>
            </a:r>
            <a:r>
              <a:rPr kumimoji="1" lang="ja-JP" altLang="en-US" b="1" dirty="0">
                <a:solidFill>
                  <a:schemeClr val="bg1"/>
                </a:solidFill>
              </a:rPr>
              <a:t>パターン</a:t>
            </a:r>
            <a:br>
              <a:rPr kumimoji="1" lang="en-US" altLang="ja-JP" b="1" dirty="0">
                <a:solidFill>
                  <a:schemeClr val="bg1"/>
                </a:solidFill>
              </a:rPr>
            </a:br>
            <a:r>
              <a:rPr kumimoji="1" lang="en-US" altLang="ja-JP" b="1" dirty="0">
                <a:solidFill>
                  <a:schemeClr val="bg1"/>
                </a:solidFill>
              </a:rPr>
              <a:t>       </a:t>
            </a:r>
            <a:r>
              <a:rPr kumimoji="1" lang="ja-JP" altLang="en-US" b="1" dirty="0">
                <a:solidFill>
                  <a:schemeClr val="bg1"/>
                </a:solidFill>
              </a:rPr>
              <a:t>コンボあり</a:t>
            </a:r>
            <a:r>
              <a:rPr kumimoji="1" lang="en-US" altLang="ja-JP" b="1" dirty="0">
                <a:solidFill>
                  <a:schemeClr val="bg1"/>
                </a:solidFill>
              </a:rPr>
              <a:t>(3</a:t>
            </a:r>
            <a:r>
              <a:rPr kumimoji="1" lang="ja-JP" altLang="en-US" b="1" dirty="0">
                <a:solidFill>
                  <a:schemeClr val="bg1"/>
                </a:solidFill>
              </a:rPr>
              <a:t>コンボまであった</a:t>
            </a:r>
            <a:r>
              <a:rPr kumimoji="1" lang="en-US" altLang="ja-JP" b="1" dirty="0">
                <a:solidFill>
                  <a:schemeClr val="bg1"/>
                </a:solidFill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3200" b="1" u="sng" dirty="0">
                <a:solidFill>
                  <a:schemeClr val="bg1"/>
                </a:solidFill>
              </a:rPr>
              <a:t>必殺技</a:t>
            </a:r>
            <a:endParaRPr kumimoji="1" lang="en-US" altLang="ja-JP" sz="3200" b="1" u="sng" dirty="0">
              <a:solidFill>
                <a:schemeClr val="bg1"/>
              </a:solidFill>
            </a:endParaRP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スキルの強化状態</a:t>
            </a:r>
            <a:r>
              <a:rPr kumimoji="1" lang="en-US" altLang="ja-JP" b="1" dirty="0">
                <a:solidFill>
                  <a:schemeClr val="bg1"/>
                </a:solidFill>
              </a:rPr>
              <a:t>(</a:t>
            </a:r>
            <a:r>
              <a:rPr kumimoji="1" lang="ja-JP" altLang="en-US" b="1" dirty="0">
                <a:solidFill>
                  <a:schemeClr val="bg1"/>
                </a:solidFill>
              </a:rPr>
              <a:t>スーパーアーマー、演出あり</a:t>
            </a:r>
            <a:r>
              <a:rPr kumimoji="1" lang="en-US" altLang="ja-JP" b="1" dirty="0">
                <a:solidFill>
                  <a:schemeClr val="bg1"/>
                </a:solidFill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3200" b="1" u="sng" dirty="0">
                <a:solidFill>
                  <a:schemeClr val="bg1"/>
                </a:solidFill>
              </a:rPr>
              <a:t>防衛手段</a:t>
            </a:r>
            <a:endParaRPr kumimoji="1" lang="en-US" altLang="ja-JP" sz="3200" b="1" u="sng" dirty="0">
              <a:solidFill>
                <a:schemeClr val="bg1"/>
              </a:solidFill>
            </a:endParaRPr>
          </a:p>
          <a:p>
            <a:r>
              <a:rPr kumimoji="1" lang="en-US" altLang="ja-JP" b="1" dirty="0">
                <a:solidFill>
                  <a:schemeClr val="bg1"/>
                </a:solidFill>
              </a:rPr>
              <a:t>	</a:t>
            </a:r>
            <a:r>
              <a:rPr kumimoji="1" lang="ja-JP" altLang="en-US" b="1" dirty="0">
                <a:solidFill>
                  <a:schemeClr val="bg1"/>
                </a:solidFill>
              </a:rPr>
              <a:t>回避</a:t>
            </a:r>
            <a:r>
              <a:rPr kumimoji="1" lang="en-US" altLang="ja-JP" b="1" dirty="0">
                <a:solidFill>
                  <a:schemeClr val="bg1"/>
                </a:solidFill>
              </a:rPr>
              <a:t>(</a:t>
            </a:r>
            <a:r>
              <a:rPr kumimoji="1" lang="ja-JP" altLang="en-US" b="1" dirty="0">
                <a:solidFill>
                  <a:schemeClr val="bg1"/>
                </a:solidFill>
              </a:rPr>
              <a:t>ジャスト回避有</a:t>
            </a:r>
            <a:r>
              <a:rPr kumimoji="1" lang="en-US" altLang="ja-JP" b="1" dirty="0">
                <a:solidFill>
                  <a:schemeClr val="bg1"/>
                </a:solidFill>
              </a:rPr>
              <a:t>)</a:t>
            </a:r>
            <a:br>
              <a:rPr kumimoji="1" lang="en-US" altLang="ja-JP" b="1" dirty="0">
                <a:solidFill>
                  <a:schemeClr val="bg1"/>
                </a:solidFill>
              </a:rPr>
            </a:br>
            <a:endParaRPr kumimoji="1" lang="ja-JP" altLang="en-US" b="1" dirty="0">
              <a:solidFill>
                <a:schemeClr val="bg1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0C1175C-A907-1BA0-9AD9-A9793A836679}"/>
              </a:ext>
            </a:extLst>
          </p:cNvPr>
          <p:cNvSpPr txBox="1"/>
          <p:nvPr/>
        </p:nvSpPr>
        <p:spPr>
          <a:xfrm>
            <a:off x="6102948" y="3075057"/>
            <a:ext cx="428835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000" dirty="0">
                <a:solidFill>
                  <a:schemeClr val="bg1"/>
                </a:solidFill>
              </a:rPr>
              <a:t>【</a:t>
            </a:r>
            <a:r>
              <a:rPr kumimoji="1" lang="ja-JP" altLang="en-US" sz="4000" dirty="0">
                <a:solidFill>
                  <a:schemeClr val="bg1"/>
                </a:solidFill>
              </a:rPr>
              <a:t>やりたいこと</a:t>
            </a:r>
            <a:r>
              <a:rPr kumimoji="1" lang="en-US" altLang="ja-JP" sz="4000" dirty="0">
                <a:solidFill>
                  <a:schemeClr val="bg1"/>
                </a:solidFill>
              </a:rPr>
              <a:t>】</a:t>
            </a:r>
            <a:endParaRPr kumimoji="1" lang="ja-JP" altLang="en-US" sz="4000" dirty="0">
              <a:solidFill>
                <a:schemeClr val="bg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0EF7D30-BE42-6764-BA8C-9FB1B40D01E4}"/>
              </a:ext>
            </a:extLst>
          </p:cNvPr>
          <p:cNvSpPr txBox="1"/>
          <p:nvPr/>
        </p:nvSpPr>
        <p:spPr>
          <a:xfrm>
            <a:off x="6703499" y="3989973"/>
            <a:ext cx="3258393" cy="2308324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solidFill>
                  <a:schemeClr val="bg1"/>
                </a:solidFill>
              </a:rPr>
              <a:t>カメラのロックオン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solidFill>
                  <a:schemeClr val="bg1"/>
                </a:solidFill>
              </a:rPr>
              <a:t>敵の攻撃権の管理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solidFill>
                  <a:schemeClr val="bg1"/>
                </a:solidFill>
              </a:rPr>
              <a:t>カメラ演出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solidFill>
                  <a:schemeClr val="bg1"/>
                </a:solidFill>
              </a:rPr>
              <a:t>ステートパターン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solidFill>
                  <a:schemeClr val="bg1"/>
                </a:solidFill>
              </a:rPr>
              <a:t>シェーダー少し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kumimoji="1" lang="ja-JP" altLang="en-US" sz="2400" dirty="0">
              <a:solidFill>
                <a:schemeClr val="bg1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678CDA4-BE51-5DB9-673E-24BD27FFEECD}"/>
              </a:ext>
            </a:extLst>
          </p:cNvPr>
          <p:cNvSpPr txBox="1"/>
          <p:nvPr/>
        </p:nvSpPr>
        <p:spPr>
          <a:xfrm>
            <a:off x="5715510" y="6129020"/>
            <a:ext cx="38667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600" dirty="0">
                <a:solidFill>
                  <a:schemeClr val="bg1"/>
                </a:solidFill>
              </a:rPr>
              <a:t>※</a:t>
            </a:r>
            <a:r>
              <a:rPr kumimoji="1" lang="ja-JP" altLang="en-US" sz="1600" dirty="0">
                <a:solidFill>
                  <a:schemeClr val="bg1"/>
                </a:solidFill>
              </a:rPr>
              <a:t>キャラクター挙動、敵</a:t>
            </a:r>
            <a:r>
              <a:rPr kumimoji="1" lang="en-US" altLang="ja-JP" sz="1600" dirty="0">
                <a:solidFill>
                  <a:schemeClr val="bg1"/>
                </a:solidFill>
              </a:rPr>
              <a:t>AI</a:t>
            </a:r>
            <a:r>
              <a:rPr kumimoji="1" lang="ja-JP" altLang="en-US" sz="1600" dirty="0">
                <a:solidFill>
                  <a:schemeClr val="bg1"/>
                </a:solidFill>
              </a:rPr>
              <a:t>挙動、中心、</a:t>
            </a:r>
            <a:br>
              <a:rPr kumimoji="1" lang="en-US" altLang="ja-JP" sz="1600" dirty="0">
                <a:solidFill>
                  <a:schemeClr val="bg1"/>
                </a:solidFill>
              </a:rPr>
            </a:br>
            <a:r>
              <a:rPr kumimoji="1" lang="ja-JP" altLang="en-US" sz="1600" dirty="0">
                <a:solidFill>
                  <a:schemeClr val="bg1"/>
                </a:solidFill>
              </a:rPr>
              <a:t>シェーダーは少々でやりたい</a:t>
            </a:r>
          </a:p>
        </p:txBody>
      </p:sp>
      <p:pic>
        <p:nvPicPr>
          <p:cNvPr id="2" name="図 1" descr="ステージ制作について｜NINJA GAIDEN 4 開発ブログ – NINJA GAIDEN 4 開発ブログNINJA GAIDEN 4 開発ブログ">
            <a:extLst>
              <a:ext uri="{FF2B5EF4-FFF2-40B4-BE49-F238E27FC236}">
                <a16:creationId xmlns:a16="http://schemas.microsoft.com/office/drawing/2014/main" id="{7C684E92-99DF-E0FA-F961-A4271A85CE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0346" y="234548"/>
            <a:ext cx="5233554" cy="2669113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33682056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CBD9E7-E989-D459-6E71-7878FD589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162" y="162982"/>
            <a:ext cx="8534400" cy="1507067"/>
          </a:xfrm>
        </p:spPr>
        <p:txBody>
          <a:bodyPr>
            <a:normAutofit fontScale="90000"/>
          </a:bodyPr>
          <a:lstStyle/>
          <a:p>
            <a:r>
              <a:rPr kumimoji="1" lang="ja-JP" altLang="en-US" sz="4400" b="1" dirty="0">
                <a:solidFill>
                  <a:schemeClr val="bg1"/>
                </a:solidFill>
              </a:rPr>
              <a:t>①</a:t>
            </a:r>
            <a:r>
              <a:rPr kumimoji="1" lang="en-US" altLang="ja-JP" sz="4400" b="1" dirty="0">
                <a:solidFill>
                  <a:schemeClr val="bg1"/>
                </a:solidFill>
              </a:rPr>
              <a:t>	</a:t>
            </a:r>
            <a:r>
              <a:rPr lang="ja-JP" altLang="en-US" sz="3200" b="1" dirty="0">
                <a:solidFill>
                  <a:schemeClr val="bg1"/>
                </a:solidFill>
              </a:rPr>
              <a:t>空中追撃へ発展する</a:t>
            </a:r>
            <a:br>
              <a:rPr lang="en-US" altLang="ja-JP" sz="3200" b="1" dirty="0">
                <a:solidFill>
                  <a:schemeClr val="bg1"/>
                </a:solidFill>
              </a:rPr>
            </a:br>
            <a:r>
              <a:rPr lang="en-US" altLang="ja-JP" sz="3200" b="1" dirty="0">
                <a:solidFill>
                  <a:schemeClr val="bg1"/>
                </a:solidFill>
              </a:rPr>
              <a:t>		</a:t>
            </a:r>
            <a:r>
              <a:rPr lang="ja-JP" altLang="en-US" sz="3200" b="1" dirty="0">
                <a:solidFill>
                  <a:schemeClr val="bg1"/>
                </a:solidFill>
              </a:rPr>
              <a:t>立体的な</a:t>
            </a:r>
            <a:br>
              <a:rPr lang="en-US" altLang="ja-JP" sz="3200" b="1" dirty="0">
                <a:solidFill>
                  <a:schemeClr val="bg1"/>
                </a:solidFill>
              </a:rPr>
            </a:br>
            <a:r>
              <a:rPr lang="en-US" altLang="ja-JP" sz="3200" b="1" dirty="0">
                <a:solidFill>
                  <a:schemeClr val="bg1"/>
                </a:solidFill>
              </a:rPr>
              <a:t>		</a:t>
            </a:r>
            <a:r>
              <a:rPr lang="ja-JP" altLang="en-US" sz="3200" b="1" dirty="0">
                <a:solidFill>
                  <a:schemeClr val="bg1"/>
                </a:solidFill>
              </a:rPr>
              <a:t>コンボシステム</a:t>
            </a:r>
            <a:endParaRPr kumimoji="1" lang="ja-JP" altLang="en-US" sz="4400" b="1" dirty="0">
              <a:solidFill>
                <a:schemeClr val="bg1"/>
              </a:solidFill>
            </a:endParaRPr>
          </a:p>
        </p:txBody>
      </p:sp>
      <p:pic>
        <p:nvPicPr>
          <p:cNvPr id="3" name="図 2" descr="Ninja Gaiden 4 - 4 Core Skills You MUST Learn to Dominate and Have Fun -  Combat Guide">
            <a:extLst>
              <a:ext uri="{FF2B5EF4-FFF2-40B4-BE49-F238E27FC236}">
                <a16:creationId xmlns:a16="http://schemas.microsoft.com/office/drawing/2014/main" id="{CA8610E8-D34D-514A-5650-34DD9F8488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2309" y="743365"/>
            <a:ext cx="6693573" cy="3765135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1ED2241-0131-3ADD-B2E6-1B1E215B1491}"/>
              </a:ext>
            </a:extLst>
          </p:cNvPr>
          <p:cNvSpPr txBox="1"/>
          <p:nvPr/>
        </p:nvSpPr>
        <p:spPr>
          <a:xfrm>
            <a:off x="1076555" y="2271989"/>
            <a:ext cx="38651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000" b="1" dirty="0">
                <a:solidFill>
                  <a:schemeClr val="bg1"/>
                </a:solidFill>
              </a:rPr>
              <a:t>弱攻撃→強攻撃で</a:t>
            </a:r>
            <a:br>
              <a:rPr kumimoji="1" lang="en-US" altLang="ja-JP" sz="2000" b="1" dirty="0">
                <a:solidFill>
                  <a:schemeClr val="bg1"/>
                </a:solidFill>
              </a:rPr>
            </a:br>
            <a:r>
              <a:rPr kumimoji="1" lang="ja-JP" altLang="en-US" sz="2000" b="1" dirty="0">
                <a:solidFill>
                  <a:schemeClr val="bg1"/>
                </a:solidFill>
              </a:rPr>
              <a:t>スムーズに空中攻撃遷移する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3ECE8EF-F26A-E8FA-B503-BDB4CA288C52}"/>
              </a:ext>
            </a:extLst>
          </p:cNvPr>
          <p:cNvSpPr txBox="1"/>
          <p:nvPr/>
        </p:nvSpPr>
        <p:spPr>
          <a:xfrm>
            <a:off x="1076555" y="5270501"/>
            <a:ext cx="50898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敵を切り上げ、自分も空中へ飛び、追撃する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空中コンボの最後で、地上へ敵を飛ばすなど</a:t>
            </a:r>
          </a:p>
        </p:txBody>
      </p:sp>
    </p:spTree>
    <p:extLst>
      <p:ext uri="{BB962C8B-B14F-4D97-AF65-F5344CB8AC3E}">
        <p14:creationId xmlns:p14="http://schemas.microsoft.com/office/powerpoint/2010/main" val="2171483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F5B93A-851F-5D57-65E9-1847CFC1E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387" y="267757"/>
            <a:ext cx="8534400" cy="1507067"/>
          </a:xfrm>
        </p:spPr>
        <p:txBody>
          <a:bodyPr/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②スキル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69EE46A-B858-B00E-CE54-0DE11AB6ADE9}"/>
              </a:ext>
            </a:extLst>
          </p:cNvPr>
          <p:cNvSpPr txBox="1"/>
          <p:nvPr/>
        </p:nvSpPr>
        <p:spPr>
          <a:xfrm>
            <a:off x="179387" y="1436270"/>
            <a:ext cx="399340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b="1" dirty="0">
                <a:solidFill>
                  <a:schemeClr val="bg1"/>
                </a:solidFill>
              </a:rPr>
              <a:t>アーマー付きの攻撃</a:t>
            </a:r>
            <a:endParaRPr kumimoji="1" lang="en-US" altLang="ja-JP" sz="2000" b="1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通常攻撃をするとたまるゲージ式</a:t>
            </a:r>
            <a:endParaRPr kumimoji="1" lang="en-US" altLang="ja-JP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dirty="0">
                <a:solidFill>
                  <a:schemeClr val="bg1"/>
                </a:solidFill>
              </a:rPr>
              <a:t>範囲攻撃</a:t>
            </a:r>
          </a:p>
        </p:txBody>
      </p:sp>
      <p:pic>
        <p:nvPicPr>
          <p:cNvPr id="3" name="図 2" descr="NINJA GAIDEN 4』プレイレビュー：滅却に絶技に鵺の型。敵を斬るバッサリ感健在の超忍アクションが完全復活 - 電撃オンライン">
            <a:extLst>
              <a:ext uri="{FF2B5EF4-FFF2-40B4-BE49-F238E27FC236}">
                <a16:creationId xmlns:a16="http://schemas.microsoft.com/office/drawing/2014/main" id="{1850AC80-DD94-F7AC-269B-83212F7588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7840" y="677310"/>
            <a:ext cx="4891893" cy="2751690"/>
          </a:xfrm>
          <a:prstGeom prst="rect">
            <a:avLst/>
          </a:prstGeom>
          <a:solidFill>
            <a:srgbClr val="000000">
              <a:shade val="95000"/>
            </a:srgbClr>
          </a:solidFill>
          <a:ln w="444500" cap="sq">
            <a:solidFill>
              <a:srgbClr val="000000"/>
            </a:solidFill>
            <a:miter lim="800000"/>
          </a:ln>
          <a:effectLst>
            <a:outerShdw blurRad="254000" dist="190500" dir="2700000" sy="90000" algn="b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378360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E93D46-882E-8288-FE12-68783749C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2" y="156632"/>
            <a:ext cx="8534400" cy="1507067"/>
          </a:xfrm>
        </p:spPr>
        <p:txBody>
          <a:bodyPr/>
          <a:lstStyle/>
          <a:p>
            <a:r>
              <a:rPr lang="ja-JP" altLang="en-US" b="1" dirty="0">
                <a:solidFill>
                  <a:schemeClr val="bg1"/>
                </a:solidFill>
              </a:rPr>
              <a:t>③必殺技</a:t>
            </a:r>
            <a:endParaRPr kumimoji="1" lang="ja-JP" altLang="en-US" b="1" dirty="0">
              <a:solidFill>
                <a:schemeClr val="bg1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E958D0E-1403-E2D4-3D43-D6F3AA23ACDB}"/>
              </a:ext>
            </a:extLst>
          </p:cNvPr>
          <p:cNvSpPr txBox="1"/>
          <p:nvPr/>
        </p:nvSpPr>
        <p:spPr>
          <a:xfrm>
            <a:off x="6344117" y="356895"/>
            <a:ext cx="670572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>
                <a:solidFill>
                  <a:schemeClr val="bg1"/>
                </a:solidFill>
              </a:rPr>
              <a:t>刀身が伸びる特大範囲攻撃</a:t>
            </a:r>
            <a:endParaRPr kumimoji="1" lang="en-US" altLang="ja-JP" sz="2800" dirty="0">
              <a:solidFill>
                <a:schemeClr val="bg1"/>
              </a:solidFill>
            </a:endParaRPr>
          </a:p>
          <a:p>
            <a:r>
              <a:rPr kumimoji="1" lang="ja-JP" altLang="en-US" sz="2800" dirty="0">
                <a:solidFill>
                  <a:schemeClr val="bg1"/>
                </a:solidFill>
              </a:rPr>
              <a:t>雑魚敵は一撃でやられ特別演出</a:t>
            </a:r>
            <a:endParaRPr kumimoji="1" lang="en-US" altLang="ja-JP" sz="2800" dirty="0">
              <a:solidFill>
                <a:schemeClr val="bg1"/>
              </a:solidFill>
            </a:endParaRPr>
          </a:p>
        </p:txBody>
      </p:sp>
      <p:pic>
        <p:nvPicPr>
          <p:cNvPr id="7" name="図 6" descr="レビュー【NINJA GAIDEN 4】血とアドレナリンが大噴出 | 忍者の腕を磨くアクションゲーム | KeepGamingOn">
            <a:extLst>
              <a:ext uri="{FF2B5EF4-FFF2-40B4-BE49-F238E27FC236}">
                <a16:creationId xmlns:a16="http://schemas.microsoft.com/office/drawing/2014/main" id="{E020657D-EA76-368D-F371-269AA1159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84" y="1663699"/>
            <a:ext cx="7924800" cy="4457700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12504930"/>
      </p:ext>
    </p:extLst>
  </p:cSld>
  <p:clrMapOvr>
    <a:masterClrMapping/>
  </p:clrMapOvr>
</p:sld>
</file>

<file path=ppt/theme/theme1.xml><?xml version="1.0" encoding="utf-8"?>
<a:theme xmlns:a="http://schemas.openxmlformats.org/drawingml/2006/main" name="スライス">
  <a:themeElements>
    <a:clrScheme name="スライス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おすすめ">
      <a:majorFont>
        <a:latin typeface="游ゴシック Medium"/>
        <a:ea typeface="游ゴシック Medium"/>
        <a:cs typeface=""/>
      </a:majorFont>
      <a:minorFont>
        <a:latin typeface="游ゴシック Medium"/>
        <a:ea typeface="游ゴシック Medium"/>
        <a:cs typeface=""/>
      </a:minorFont>
    </a:fontScheme>
    <a:fmtScheme name="スライス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825</TotalTime>
  <Words>260</Words>
  <Application>Microsoft Office PowerPoint</Application>
  <PresentationFormat>ワイド画面</PresentationFormat>
  <Paragraphs>44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游ゴシック Medium</vt:lpstr>
      <vt:lpstr>Arial</vt:lpstr>
      <vt:lpstr>Wingdings 3</vt:lpstr>
      <vt:lpstr>スライス</vt:lpstr>
      <vt:lpstr>PowerPoint プレゼンテーション</vt:lpstr>
      <vt:lpstr>コンセプト</vt:lpstr>
      <vt:lpstr>ゲーム概要</vt:lpstr>
      <vt:lpstr>PowerPoint プレゼンテーション</vt:lpstr>
      <vt:lpstr>① 空中追撃へ発展する   立体的な   コンボシステム</vt:lpstr>
      <vt:lpstr>②スキル</vt:lpstr>
      <vt:lpstr>③必殺技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平尾　泰稀</dc:creator>
  <cp:lastModifiedBy>平尾　泰稀</cp:lastModifiedBy>
  <cp:revision>11</cp:revision>
  <dcterms:created xsi:type="dcterms:W3CDTF">2026-05-20T11:29:17Z</dcterms:created>
  <dcterms:modified xsi:type="dcterms:W3CDTF">2026-06-16T01:31:28Z</dcterms:modified>
</cp:coreProperties>
</file>