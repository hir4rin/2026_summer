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sldIdLst>
    <p:sldId id="256" r:id="rId2"/>
    <p:sldId id="257" r:id="rId3"/>
    <p:sldId id="259" r:id="rId4"/>
    <p:sldId id="258" r:id="rId5"/>
    <p:sldId id="260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0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7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0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68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29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0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6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79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98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82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696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99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9450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63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11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3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139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01E688E0-C729-4E49-9E7B-4697607DB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9FD72C-2790-48C4-3831-85C6479A964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19000"/>
          </a:blip>
          <a:srcRect/>
          <a:stretch>
            <a:fillRect/>
          </a:stretch>
        </p:blipFill>
        <p:spPr>
          <a:xfrm>
            <a:off x="12180" y="9144"/>
            <a:ext cx="12191980" cy="6857990"/>
          </a:xfrm>
          <a:prstGeom prst="rect">
            <a:avLst/>
          </a:prstGeom>
        </p:spPr>
      </p:pic>
      <p:grpSp>
        <p:nvGrpSpPr>
          <p:cNvPr id="7" name="Group 10">
            <a:extLst>
              <a:ext uri="{FF2B5EF4-FFF2-40B4-BE49-F238E27FC236}">
                <a16:creationId xmlns:a16="http://schemas.microsoft.com/office/drawing/2014/main" id="{AAD89D74-79DD-4BE2-AA8C-8672382F2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8170" y="9144"/>
            <a:ext cx="6080656" cy="6163733"/>
            <a:chOff x="6108170" y="8467"/>
            <a:chExt cx="6080656" cy="616373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A020D6D-57F1-4846-9467-5E54F5B8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BA67610-3DFA-4B04-A0F3-FFBF2C97E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6F9FAA7-B1F5-4E7B-BEC6-00158A5F0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4174CF9-D8AD-4A5C-BF99-57B43506D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76B22A1-F450-4EAF-A363-7222D3D52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E582F0-B62A-0A3D-1733-5AD4508726F0}"/>
              </a:ext>
            </a:extLst>
          </p:cNvPr>
          <p:cNvSpPr txBox="1"/>
          <p:nvPr/>
        </p:nvSpPr>
        <p:spPr>
          <a:xfrm>
            <a:off x="3041926" y="9144"/>
            <a:ext cx="51090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ja-JP" sz="96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紅刃忍姫</a:t>
            </a:r>
            <a:endParaRPr kumimoji="1" lang="en-US" altLang="ja-JP" sz="9600" b="1" i="1" spc="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BBD399E-97D9-B6AB-D335-687CAB95C9BA}"/>
              </a:ext>
            </a:extLst>
          </p:cNvPr>
          <p:cNvSpPr txBox="1"/>
          <p:nvPr/>
        </p:nvSpPr>
        <p:spPr>
          <a:xfrm>
            <a:off x="7335837" y="5223505"/>
            <a:ext cx="5663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ジャンル：</a:t>
            </a:r>
            <a:r>
              <a:rPr kumimoji="1" lang="en-US" altLang="ja-JP" sz="2400" dirty="0">
                <a:solidFill>
                  <a:schemeClr val="bg1"/>
                </a:solidFill>
              </a:rPr>
              <a:t>3D</a:t>
            </a:r>
            <a:r>
              <a:rPr kumimoji="1" lang="ja-JP" altLang="en-US" sz="2400" dirty="0">
                <a:solidFill>
                  <a:schemeClr val="bg1"/>
                </a:solidFill>
              </a:rPr>
              <a:t>アクション</a:t>
            </a:r>
            <a:br>
              <a:rPr kumimoji="1" lang="en-US" altLang="ja-JP" sz="2400" dirty="0">
                <a:solidFill>
                  <a:schemeClr val="bg1"/>
                </a:solidFill>
              </a:rPr>
            </a:br>
            <a:r>
              <a:rPr kumimoji="1" lang="ja-JP" altLang="en-US" sz="2400" dirty="0">
                <a:solidFill>
                  <a:schemeClr val="bg1"/>
                </a:solidFill>
              </a:rPr>
              <a:t>プレイ人数：</a:t>
            </a:r>
            <a:r>
              <a:rPr kumimoji="1" lang="en-US" altLang="ja-JP" sz="2400" dirty="0">
                <a:solidFill>
                  <a:schemeClr val="bg1"/>
                </a:solidFill>
              </a:rPr>
              <a:t>1</a:t>
            </a:r>
            <a:r>
              <a:rPr kumimoji="1" lang="ja-JP" altLang="en-US" sz="2400" dirty="0">
                <a:solidFill>
                  <a:schemeClr val="bg1"/>
                </a:solidFill>
              </a:rPr>
              <a:t>人プレイ</a:t>
            </a:r>
            <a:br>
              <a:rPr kumimoji="1" lang="en-US" altLang="ja-JP" sz="2400" dirty="0">
                <a:solidFill>
                  <a:schemeClr val="bg1"/>
                </a:solidFill>
              </a:rPr>
            </a:br>
            <a:r>
              <a:rPr kumimoji="1" lang="ja-JP" altLang="en-US" sz="2400" dirty="0">
                <a:solidFill>
                  <a:schemeClr val="bg1"/>
                </a:solidFill>
              </a:rPr>
              <a:t>プラットフォーム：</a:t>
            </a:r>
            <a:r>
              <a:rPr kumimoji="1" lang="en-US" altLang="ja-JP" sz="2400" dirty="0">
                <a:solidFill>
                  <a:schemeClr val="bg1"/>
                </a:solidFill>
              </a:rPr>
              <a:t>Windows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pic>
        <p:nvPicPr>
          <p:cNvPr id="2" name="図 1" descr="NINJA GAIDEN 4』: Game Pass で配信中 | Xbox">
            <a:extLst>
              <a:ext uri="{FF2B5EF4-FFF2-40B4-BE49-F238E27FC236}">
                <a16:creationId xmlns:a16="http://schemas.microsoft.com/office/drawing/2014/main" id="{6F043609-F748-6948-8FFC-A44D6DE71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4" y="1602170"/>
            <a:ext cx="4803868" cy="480386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1276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インタビュー］「NINJA GAIDEN 4」はなぜ新たな血を必要としたのか。Team NINJA安田文彦氏，プラチナゲームズ中尾裕治氏に聞く">
            <a:extLst>
              <a:ext uri="{FF2B5EF4-FFF2-40B4-BE49-F238E27FC236}">
                <a16:creationId xmlns:a16="http://schemas.microsoft.com/office/drawing/2014/main" id="{4BC963CD-9AD2-68E0-DA8D-75C9ED9844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0513FD5-E2BE-FCEC-3554-44D60E8C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454" y="254697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ja-JP" altLang="en-US" sz="8800" dirty="0">
                <a:solidFill>
                  <a:schemeClr val="bg1"/>
                </a:solidFill>
                <a:highlight>
                  <a:srgbClr val="FFFF00"/>
                </a:highlight>
              </a:rPr>
              <a:t>コンセプト</a:t>
            </a:r>
            <a:endParaRPr kumimoji="1" lang="ja-JP" altLang="en-US" sz="8800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D041DB-0389-1C20-A77E-F4A383363487}"/>
              </a:ext>
            </a:extLst>
          </p:cNvPr>
          <p:cNvSpPr txBox="1"/>
          <p:nvPr/>
        </p:nvSpPr>
        <p:spPr>
          <a:xfrm>
            <a:off x="2338774" y="4662604"/>
            <a:ext cx="5721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  <a:highlight>
                  <a:srgbClr val="FFFF00"/>
                </a:highlight>
              </a:rPr>
              <a:t>派手な必殺技アクション</a:t>
            </a:r>
          </a:p>
        </p:txBody>
      </p:sp>
    </p:spTree>
    <p:extLst>
      <p:ext uri="{BB962C8B-B14F-4D97-AF65-F5344CB8AC3E}">
        <p14:creationId xmlns:p14="http://schemas.microsoft.com/office/powerpoint/2010/main" val="256423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C17F12-DDD3-917F-6821-D17D4268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84" y="137401"/>
            <a:ext cx="8534400" cy="1507067"/>
          </a:xfrm>
        </p:spPr>
        <p:txBody>
          <a:bodyPr>
            <a:normAutofit/>
          </a:bodyPr>
          <a:lstStyle/>
          <a:p>
            <a:r>
              <a:rPr kumimoji="1" lang="ja-JP" altLang="en-US" sz="5400" dirty="0">
                <a:solidFill>
                  <a:schemeClr val="bg1"/>
                </a:solidFill>
              </a:rPr>
              <a:t>ゲーム概要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8C85823-8206-A90C-0C97-F12782AB09C0}"/>
              </a:ext>
            </a:extLst>
          </p:cNvPr>
          <p:cNvGrpSpPr/>
          <p:nvPr/>
        </p:nvGrpSpPr>
        <p:grpSpPr>
          <a:xfrm>
            <a:off x="1186890" y="1731319"/>
            <a:ext cx="1809750" cy="5001798"/>
            <a:chOff x="970990" y="1362770"/>
            <a:chExt cx="1809750" cy="5001798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D40F036-D24B-EA1D-751F-EC5246827258}"/>
                </a:ext>
              </a:extLst>
            </p:cNvPr>
            <p:cNvSpPr/>
            <p:nvPr/>
          </p:nvSpPr>
          <p:spPr>
            <a:xfrm>
              <a:off x="1559859" y="1460318"/>
              <a:ext cx="632012" cy="490425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A456704-3739-6A12-3F7D-4E13C7DCE384}"/>
                </a:ext>
              </a:extLst>
            </p:cNvPr>
            <p:cNvSpPr/>
            <p:nvPr/>
          </p:nvSpPr>
          <p:spPr>
            <a:xfrm>
              <a:off x="970990" y="4572000"/>
              <a:ext cx="1809750" cy="106680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C6FEC104-E853-34B9-BCBC-F946CBC3E9E5}"/>
                </a:ext>
              </a:extLst>
            </p:cNvPr>
            <p:cNvSpPr/>
            <p:nvPr/>
          </p:nvSpPr>
          <p:spPr>
            <a:xfrm>
              <a:off x="970990" y="2967385"/>
              <a:ext cx="1809750" cy="106680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EFC14CCF-101C-2434-237E-06FFA3587016}"/>
                </a:ext>
              </a:extLst>
            </p:cNvPr>
            <p:cNvSpPr/>
            <p:nvPr/>
          </p:nvSpPr>
          <p:spPr>
            <a:xfrm>
              <a:off x="970990" y="1362770"/>
              <a:ext cx="1809750" cy="106680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F2448D4-12CE-7678-49AC-2BFD29BABFBC}"/>
              </a:ext>
            </a:extLst>
          </p:cNvPr>
          <p:cNvSpPr txBox="1"/>
          <p:nvPr/>
        </p:nvSpPr>
        <p:spPr>
          <a:xfrm>
            <a:off x="1295400" y="141076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【</a:t>
            </a:r>
            <a:r>
              <a:rPr kumimoji="1" lang="ja-JP" altLang="en-US" dirty="0">
                <a:solidFill>
                  <a:schemeClr val="bg1"/>
                </a:solidFill>
              </a:rPr>
              <a:t>ステージ図</a:t>
            </a:r>
            <a:r>
              <a:rPr kumimoji="1" lang="en-US" altLang="ja-JP" dirty="0">
                <a:solidFill>
                  <a:schemeClr val="bg1"/>
                </a:solidFill>
              </a:rPr>
              <a:t>】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5959898-2E19-2039-3D78-1C2EF01B22C7}"/>
              </a:ext>
            </a:extLst>
          </p:cNvPr>
          <p:cNvSpPr txBox="1"/>
          <p:nvPr/>
        </p:nvSpPr>
        <p:spPr>
          <a:xfrm>
            <a:off x="3828151" y="1828867"/>
            <a:ext cx="210987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>
                <a:solidFill>
                  <a:schemeClr val="bg1"/>
                </a:solidFill>
              </a:rPr>
              <a:t>1</a:t>
            </a:r>
            <a:r>
              <a:rPr kumimoji="1" lang="ja-JP" altLang="en-US" sz="2800" dirty="0">
                <a:solidFill>
                  <a:schemeClr val="bg1"/>
                </a:solidFill>
              </a:rPr>
              <a:t>本道</a:t>
            </a:r>
            <a:endParaRPr kumimoji="1" lang="en-US" altLang="ja-JP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>
                <a:solidFill>
                  <a:schemeClr val="bg1"/>
                </a:solidFill>
              </a:rPr>
              <a:t>3Wave</a:t>
            </a:r>
            <a:r>
              <a:rPr kumimoji="1" lang="ja-JP" altLang="en-US" sz="2800" dirty="0">
                <a:solidFill>
                  <a:schemeClr val="bg1"/>
                </a:solidFill>
              </a:rPr>
              <a:t>制</a:t>
            </a:r>
            <a:br>
              <a:rPr kumimoji="1" lang="en-US" altLang="ja-JP" sz="2800" dirty="0">
                <a:solidFill>
                  <a:schemeClr val="bg1"/>
                </a:solidFill>
              </a:rPr>
            </a:b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6DC4E86-D9DE-B4FC-429D-0525C1C8FB00}"/>
              </a:ext>
            </a:extLst>
          </p:cNvPr>
          <p:cNvSpPr txBox="1"/>
          <p:nvPr/>
        </p:nvSpPr>
        <p:spPr>
          <a:xfrm>
            <a:off x="3985765" y="3644139"/>
            <a:ext cx="319991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雑魚敵：</a:t>
            </a:r>
            <a:r>
              <a:rPr kumimoji="1" lang="en-US" altLang="ja-JP" dirty="0">
                <a:solidFill>
                  <a:schemeClr val="bg1"/>
                </a:solidFill>
              </a:rPr>
              <a:t>2-3</a:t>
            </a:r>
            <a:r>
              <a:rPr kumimoji="1" lang="ja-JP" altLang="en-US" dirty="0">
                <a:solidFill>
                  <a:schemeClr val="bg1"/>
                </a:solidFill>
              </a:rPr>
              <a:t>種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中ボス：</a:t>
            </a:r>
            <a:r>
              <a:rPr kumimoji="1" lang="en-US" altLang="ja-JP" dirty="0">
                <a:solidFill>
                  <a:schemeClr val="bg1"/>
                </a:solidFill>
              </a:rPr>
              <a:t>1</a:t>
            </a:r>
            <a:r>
              <a:rPr kumimoji="1" lang="ja-JP" altLang="en-US" dirty="0">
                <a:solidFill>
                  <a:schemeClr val="bg1"/>
                </a:solidFill>
              </a:rPr>
              <a:t>種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ボス</a:t>
            </a:r>
            <a:r>
              <a:rPr kumimoji="1" lang="en-US" altLang="ja-JP" dirty="0">
                <a:solidFill>
                  <a:schemeClr val="bg1"/>
                </a:solidFill>
              </a:rPr>
              <a:t>1</a:t>
            </a:r>
            <a:r>
              <a:rPr kumimoji="1" lang="ja-JP" altLang="en-US" dirty="0">
                <a:solidFill>
                  <a:schemeClr val="bg1"/>
                </a:solidFill>
              </a:rPr>
              <a:t>種</a:t>
            </a:r>
            <a:endParaRPr kumimoji="1" lang="en-US" altLang="ja-JP" dirty="0">
              <a:solidFill>
                <a:schemeClr val="bg1"/>
              </a:solidFill>
            </a:endParaRPr>
          </a:p>
          <a:p>
            <a:endParaRPr kumimoji="1" lang="en-US" altLang="ja-JP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ステージ数：</a:t>
            </a:r>
            <a:r>
              <a:rPr kumimoji="1" lang="en-US" altLang="ja-JP" dirty="0">
                <a:solidFill>
                  <a:schemeClr val="bg1"/>
                </a:solidFill>
              </a:rPr>
              <a:t>1~2</a:t>
            </a:r>
            <a:r>
              <a:rPr kumimoji="1" lang="ja-JP" altLang="en-US" dirty="0">
                <a:solidFill>
                  <a:schemeClr val="bg1"/>
                </a:solidFill>
              </a:rPr>
              <a:t>ステージ</a:t>
            </a:r>
            <a:br>
              <a:rPr kumimoji="1" lang="en-US" altLang="ja-JP" dirty="0">
                <a:solidFill>
                  <a:schemeClr val="bg1"/>
                </a:solidFill>
              </a:rPr>
            </a:br>
            <a:endParaRPr kumimoji="1" lang="ja-JP" altLang="en-US" dirty="0">
              <a:solidFill>
                <a:schemeClr val="bg1"/>
              </a:solidFill>
            </a:endParaRPr>
          </a:p>
        </p:txBody>
      </p:sp>
      <p:pic>
        <p:nvPicPr>
          <p:cNvPr id="3" name="図 2" descr="NINJA GAIDEN 4』先行レビュー。血しぶき舞うハイスピード忍者バトルは最高！  ただし攻撃が気持ちよすぎて防御を忘れるとすぐゲームオーバーに【SGF2025】 | ゲーム・エンタメ最新情報のファミ通.com">
            <a:extLst>
              <a:ext uri="{FF2B5EF4-FFF2-40B4-BE49-F238E27FC236}">
                <a16:creationId xmlns:a16="http://schemas.microsoft.com/office/drawing/2014/main" id="{BD78D4B2-3B5C-6A1C-069B-A596919FB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742" y="360109"/>
            <a:ext cx="5078487" cy="28537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60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6FE4787-4B4C-A93C-7FC6-C12F63A3725C}"/>
              </a:ext>
            </a:extLst>
          </p:cNvPr>
          <p:cNvSpPr txBox="1"/>
          <p:nvPr/>
        </p:nvSpPr>
        <p:spPr>
          <a:xfrm>
            <a:off x="352698" y="483326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</a:rPr>
              <a:t>プレイヤーの操作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E0080DA-B731-B659-C762-4C63C5FA9194}"/>
              </a:ext>
            </a:extLst>
          </p:cNvPr>
          <p:cNvSpPr txBox="1"/>
          <p:nvPr/>
        </p:nvSpPr>
        <p:spPr>
          <a:xfrm>
            <a:off x="708144" y="1191212"/>
            <a:ext cx="5565947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800" b="1" u="sng" dirty="0">
                <a:solidFill>
                  <a:schemeClr val="bg1"/>
                </a:solidFill>
              </a:rPr>
              <a:t>通常攻撃</a:t>
            </a:r>
            <a:endParaRPr kumimoji="1" lang="en-US" altLang="ja-JP" sz="2800" b="1" u="sng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弱攻撃</a:t>
            </a:r>
            <a:r>
              <a:rPr kumimoji="1" lang="en-US" altLang="ja-JP" b="1" dirty="0">
                <a:solidFill>
                  <a:schemeClr val="bg1"/>
                </a:solidFill>
              </a:rPr>
              <a:t>(</a:t>
            </a:r>
            <a:r>
              <a:rPr kumimoji="1" lang="ja-JP" altLang="en-US" b="1" dirty="0">
                <a:solidFill>
                  <a:schemeClr val="bg1"/>
                </a:solidFill>
              </a:rPr>
              <a:t>弱攻撃</a:t>
            </a:r>
            <a:r>
              <a:rPr kumimoji="1" lang="en-US" altLang="ja-JP" b="1" dirty="0">
                <a:solidFill>
                  <a:schemeClr val="bg1"/>
                </a:solidFill>
              </a:rPr>
              <a:t>5</a:t>
            </a:r>
            <a:r>
              <a:rPr kumimoji="1" lang="ja-JP" altLang="en-US" b="1" dirty="0">
                <a:solidFill>
                  <a:schemeClr val="bg1"/>
                </a:solidFill>
              </a:rPr>
              <a:t>段</a:t>
            </a:r>
            <a:r>
              <a:rPr kumimoji="1" lang="en-US" altLang="ja-JP" b="1" dirty="0">
                <a:solidFill>
                  <a:schemeClr val="bg1"/>
                </a:solidFill>
              </a:rPr>
              <a:t>)</a:t>
            </a: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強攻撃</a:t>
            </a:r>
            <a:r>
              <a:rPr kumimoji="1" lang="en-US" altLang="ja-JP" b="1" dirty="0">
                <a:solidFill>
                  <a:schemeClr val="bg1"/>
                </a:solidFill>
              </a:rPr>
              <a:t>(</a:t>
            </a:r>
            <a:r>
              <a:rPr kumimoji="1" lang="ja-JP" altLang="en-US" b="1" dirty="0">
                <a:solidFill>
                  <a:schemeClr val="bg1"/>
                </a:solidFill>
              </a:rPr>
              <a:t>少なめ、かつあっても</a:t>
            </a:r>
            <a:r>
              <a:rPr kumimoji="1" lang="en-US" altLang="ja-JP" b="1" dirty="0">
                <a:solidFill>
                  <a:schemeClr val="bg1"/>
                </a:solidFill>
              </a:rPr>
              <a:t>2</a:t>
            </a:r>
            <a:r>
              <a:rPr kumimoji="1" lang="ja-JP" altLang="en-US" b="1" dirty="0">
                <a:solidFill>
                  <a:schemeClr val="bg1"/>
                </a:solidFill>
              </a:rPr>
              <a:t>段まで</a:t>
            </a:r>
            <a:r>
              <a:rPr kumimoji="1" lang="en-US" altLang="ja-JP" b="1" dirty="0">
                <a:solidFill>
                  <a:schemeClr val="bg1"/>
                </a:solidFill>
              </a:rPr>
              <a:t>)</a:t>
            </a: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コンボ攻撃</a:t>
            </a:r>
            <a:r>
              <a:rPr kumimoji="1" lang="en-US" altLang="ja-JP" b="1" dirty="0">
                <a:solidFill>
                  <a:schemeClr val="bg1"/>
                </a:solidFill>
              </a:rPr>
              <a:t>(</a:t>
            </a:r>
            <a:r>
              <a:rPr kumimoji="1" lang="ja-JP" altLang="en-US" b="1" dirty="0">
                <a:solidFill>
                  <a:schemeClr val="bg1"/>
                </a:solidFill>
              </a:rPr>
              <a:t>割とある</a:t>
            </a:r>
            <a:r>
              <a:rPr kumimoji="1" lang="en-US" altLang="ja-JP" b="1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800" b="1" u="sng" dirty="0">
                <a:solidFill>
                  <a:schemeClr val="bg1"/>
                </a:solidFill>
              </a:rPr>
              <a:t>ジャンプ</a:t>
            </a:r>
            <a:endParaRPr kumimoji="1" lang="en-US" altLang="ja-JP" sz="2800" b="1" u="sng" dirty="0">
              <a:solidFill>
                <a:schemeClr val="bg1"/>
              </a:solidFill>
            </a:endParaRPr>
          </a:p>
          <a:p>
            <a:pPr lvl="1"/>
            <a:r>
              <a:rPr kumimoji="1" lang="ja-JP" altLang="en-US" sz="2000" dirty="0">
                <a:solidFill>
                  <a:schemeClr val="bg1"/>
                </a:solidFill>
              </a:rPr>
              <a:t>空中コンボ</a:t>
            </a:r>
            <a:r>
              <a:rPr kumimoji="1" lang="en-US" altLang="ja-JP" sz="2000" dirty="0">
                <a:solidFill>
                  <a:schemeClr val="bg1"/>
                </a:solidFill>
              </a:rPr>
              <a:t>(</a:t>
            </a:r>
            <a:r>
              <a:rPr kumimoji="1" lang="ja-JP" altLang="en-US" sz="2000" dirty="0">
                <a:solidFill>
                  <a:schemeClr val="bg1"/>
                </a:solidFill>
              </a:rPr>
              <a:t>割とボリューミー</a:t>
            </a:r>
            <a:r>
              <a:rPr kumimoji="1" lang="en-US" altLang="ja-JP" sz="20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3200" b="1" u="sng" dirty="0">
                <a:solidFill>
                  <a:schemeClr val="bg1"/>
                </a:solidFill>
              </a:rPr>
              <a:t>スキル</a:t>
            </a:r>
            <a:endParaRPr kumimoji="1" lang="en-US" altLang="ja-JP" sz="3200" b="1" u="sng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通常攻撃の強化版みたいなの</a:t>
            </a:r>
            <a:r>
              <a:rPr kumimoji="1" lang="en-US" altLang="ja-JP" b="1" dirty="0">
                <a:solidFill>
                  <a:schemeClr val="bg1"/>
                </a:solidFill>
              </a:rPr>
              <a:t>		 </a:t>
            </a:r>
            <a:br>
              <a:rPr kumimoji="1" lang="en-US" altLang="ja-JP" b="1" dirty="0">
                <a:solidFill>
                  <a:schemeClr val="bg1"/>
                </a:solidFill>
              </a:rPr>
            </a:br>
            <a:r>
              <a:rPr kumimoji="1" lang="en-US" altLang="ja-JP" b="1" dirty="0">
                <a:solidFill>
                  <a:schemeClr val="bg1"/>
                </a:solidFill>
              </a:rPr>
              <a:t>	X</a:t>
            </a:r>
            <a:r>
              <a:rPr kumimoji="1" lang="ja-JP" altLang="en-US" b="1" dirty="0">
                <a:solidFill>
                  <a:schemeClr val="bg1"/>
                </a:solidFill>
              </a:rPr>
              <a:t>と</a:t>
            </a:r>
            <a:r>
              <a:rPr kumimoji="1" lang="en-US" altLang="ja-JP" b="1" dirty="0">
                <a:solidFill>
                  <a:schemeClr val="bg1"/>
                </a:solidFill>
              </a:rPr>
              <a:t>Y</a:t>
            </a:r>
            <a:r>
              <a:rPr kumimoji="1" lang="ja-JP" altLang="en-US" b="1" dirty="0">
                <a:solidFill>
                  <a:schemeClr val="bg1"/>
                </a:solidFill>
              </a:rPr>
              <a:t>の</a:t>
            </a:r>
            <a:r>
              <a:rPr kumimoji="1" lang="en-US" altLang="ja-JP" b="1" dirty="0">
                <a:solidFill>
                  <a:schemeClr val="bg1"/>
                </a:solidFill>
              </a:rPr>
              <a:t>2</a:t>
            </a:r>
            <a:r>
              <a:rPr kumimoji="1" lang="ja-JP" altLang="en-US" b="1" dirty="0">
                <a:solidFill>
                  <a:schemeClr val="bg1"/>
                </a:solidFill>
              </a:rPr>
              <a:t>パターン</a:t>
            </a:r>
            <a:br>
              <a:rPr kumimoji="1" lang="en-US" altLang="ja-JP" b="1" dirty="0">
                <a:solidFill>
                  <a:schemeClr val="bg1"/>
                </a:solidFill>
              </a:rPr>
            </a:br>
            <a:r>
              <a:rPr kumimoji="1" lang="en-US" altLang="ja-JP" b="1" dirty="0">
                <a:solidFill>
                  <a:schemeClr val="bg1"/>
                </a:solidFill>
              </a:rPr>
              <a:t>       </a:t>
            </a:r>
            <a:r>
              <a:rPr kumimoji="1" lang="ja-JP" altLang="en-US" b="1" dirty="0">
                <a:solidFill>
                  <a:schemeClr val="bg1"/>
                </a:solidFill>
              </a:rPr>
              <a:t>コンボあり</a:t>
            </a:r>
            <a:r>
              <a:rPr kumimoji="1" lang="en-US" altLang="ja-JP" b="1" dirty="0">
                <a:solidFill>
                  <a:schemeClr val="bg1"/>
                </a:solidFill>
              </a:rPr>
              <a:t>(3</a:t>
            </a:r>
            <a:r>
              <a:rPr kumimoji="1" lang="ja-JP" altLang="en-US" b="1" dirty="0">
                <a:solidFill>
                  <a:schemeClr val="bg1"/>
                </a:solidFill>
              </a:rPr>
              <a:t>コンボまであった</a:t>
            </a:r>
            <a:r>
              <a:rPr kumimoji="1" lang="en-US" altLang="ja-JP" b="1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3200" b="1" u="sng" dirty="0">
                <a:solidFill>
                  <a:schemeClr val="bg1"/>
                </a:solidFill>
              </a:rPr>
              <a:t>必殺技</a:t>
            </a:r>
            <a:endParaRPr kumimoji="1" lang="en-US" altLang="ja-JP" sz="3200" b="1" u="sng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スキルの強化状態</a:t>
            </a:r>
            <a:r>
              <a:rPr kumimoji="1" lang="en-US" altLang="ja-JP" b="1" dirty="0">
                <a:solidFill>
                  <a:schemeClr val="bg1"/>
                </a:solidFill>
              </a:rPr>
              <a:t>(</a:t>
            </a:r>
            <a:r>
              <a:rPr kumimoji="1" lang="ja-JP" altLang="en-US" b="1" dirty="0">
                <a:solidFill>
                  <a:schemeClr val="bg1"/>
                </a:solidFill>
              </a:rPr>
              <a:t>スーパーアーマー、演出あり</a:t>
            </a:r>
            <a:r>
              <a:rPr kumimoji="1" lang="en-US" altLang="ja-JP" b="1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3200" b="1" u="sng" dirty="0">
                <a:solidFill>
                  <a:schemeClr val="bg1"/>
                </a:solidFill>
              </a:rPr>
              <a:t>防衛手段</a:t>
            </a:r>
            <a:endParaRPr kumimoji="1" lang="en-US" altLang="ja-JP" sz="3200" b="1" u="sng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回避</a:t>
            </a:r>
            <a:r>
              <a:rPr kumimoji="1" lang="en-US" altLang="ja-JP" b="1" dirty="0">
                <a:solidFill>
                  <a:schemeClr val="bg1"/>
                </a:solidFill>
              </a:rPr>
              <a:t>(</a:t>
            </a:r>
            <a:r>
              <a:rPr kumimoji="1" lang="ja-JP" altLang="en-US" b="1" dirty="0">
                <a:solidFill>
                  <a:schemeClr val="bg1"/>
                </a:solidFill>
              </a:rPr>
              <a:t>ジャスト回避有</a:t>
            </a:r>
            <a:r>
              <a:rPr kumimoji="1" lang="en-US" altLang="ja-JP" b="1" dirty="0">
                <a:solidFill>
                  <a:schemeClr val="bg1"/>
                </a:solidFill>
              </a:rPr>
              <a:t>)</a:t>
            </a:r>
            <a:br>
              <a:rPr kumimoji="1" lang="en-US" altLang="ja-JP" b="1" dirty="0">
                <a:solidFill>
                  <a:schemeClr val="bg1"/>
                </a:solidFill>
              </a:rPr>
            </a:b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C1175C-A907-1BA0-9AD9-A9793A836679}"/>
              </a:ext>
            </a:extLst>
          </p:cNvPr>
          <p:cNvSpPr txBox="1"/>
          <p:nvPr/>
        </p:nvSpPr>
        <p:spPr>
          <a:xfrm>
            <a:off x="6102948" y="3075057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【</a:t>
            </a:r>
            <a:r>
              <a:rPr kumimoji="1" lang="ja-JP" altLang="en-US" sz="4000" dirty="0">
                <a:solidFill>
                  <a:schemeClr val="bg1"/>
                </a:solidFill>
              </a:rPr>
              <a:t>やりたいこと</a:t>
            </a:r>
            <a:r>
              <a:rPr kumimoji="1" lang="en-US" altLang="ja-JP" sz="4000" dirty="0">
                <a:solidFill>
                  <a:schemeClr val="bg1"/>
                </a:solidFill>
              </a:rPr>
              <a:t>】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EF7D30-BE42-6764-BA8C-9FB1B40D01E4}"/>
              </a:ext>
            </a:extLst>
          </p:cNvPr>
          <p:cNvSpPr txBox="1"/>
          <p:nvPr/>
        </p:nvSpPr>
        <p:spPr>
          <a:xfrm>
            <a:off x="6703499" y="3989973"/>
            <a:ext cx="3258393" cy="230832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solidFill>
                  <a:schemeClr val="bg1"/>
                </a:solidFill>
              </a:rPr>
              <a:t>カメラのロックオン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solidFill>
                  <a:schemeClr val="bg1"/>
                </a:solidFill>
              </a:rPr>
              <a:t>敵の攻撃権の管理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solidFill>
                  <a:schemeClr val="bg1"/>
                </a:solidFill>
              </a:rPr>
              <a:t>カメラ演出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solidFill>
                  <a:schemeClr val="bg1"/>
                </a:solidFill>
              </a:rPr>
              <a:t>ステートパターン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solidFill>
                  <a:schemeClr val="bg1"/>
                </a:solidFill>
              </a:rPr>
              <a:t>シェーダー少し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678CDA4-BE51-5DB9-673E-24BD27FFEECD}"/>
              </a:ext>
            </a:extLst>
          </p:cNvPr>
          <p:cNvSpPr txBox="1"/>
          <p:nvPr/>
        </p:nvSpPr>
        <p:spPr>
          <a:xfrm>
            <a:off x="5715510" y="6129020"/>
            <a:ext cx="38667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</a:rPr>
              <a:t>※</a:t>
            </a:r>
            <a:r>
              <a:rPr kumimoji="1" lang="ja-JP" altLang="en-US" sz="1600" dirty="0">
                <a:solidFill>
                  <a:schemeClr val="bg1"/>
                </a:solidFill>
              </a:rPr>
              <a:t>キャラクター挙動、敵</a:t>
            </a:r>
            <a:r>
              <a:rPr kumimoji="1" lang="en-US" altLang="ja-JP" sz="1600" dirty="0">
                <a:solidFill>
                  <a:schemeClr val="bg1"/>
                </a:solidFill>
              </a:rPr>
              <a:t>AI</a:t>
            </a:r>
            <a:r>
              <a:rPr kumimoji="1" lang="ja-JP" altLang="en-US" sz="1600" dirty="0">
                <a:solidFill>
                  <a:schemeClr val="bg1"/>
                </a:solidFill>
              </a:rPr>
              <a:t>挙動、中心、</a:t>
            </a:r>
            <a:br>
              <a:rPr kumimoji="1" lang="en-US" altLang="ja-JP" sz="1600" dirty="0">
                <a:solidFill>
                  <a:schemeClr val="bg1"/>
                </a:solidFill>
              </a:rPr>
            </a:br>
            <a:r>
              <a:rPr kumimoji="1" lang="ja-JP" altLang="en-US" sz="1600" dirty="0">
                <a:solidFill>
                  <a:schemeClr val="bg1"/>
                </a:solidFill>
              </a:rPr>
              <a:t>シェーダーは少々でやりたい</a:t>
            </a:r>
          </a:p>
        </p:txBody>
      </p:sp>
      <p:pic>
        <p:nvPicPr>
          <p:cNvPr id="2" name="図 1" descr="ステージ制作について｜NINJA GAIDEN 4 開発ブログ – NINJA GAIDEN 4 開発ブログNINJA GAIDEN 4 開発ブログ">
            <a:extLst>
              <a:ext uri="{FF2B5EF4-FFF2-40B4-BE49-F238E27FC236}">
                <a16:creationId xmlns:a16="http://schemas.microsoft.com/office/drawing/2014/main" id="{7C684E92-99DF-E0FA-F961-A4271A85C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346" y="234548"/>
            <a:ext cx="5233554" cy="26691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6820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CBD9E7-E989-D459-6E71-7878FD58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2" y="162982"/>
            <a:ext cx="8534400" cy="1507067"/>
          </a:xfrm>
        </p:spPr>
        <p:txBody>
          <a:bodyPr>
            <a:normAutofit fontScale="90000"/>
          </a:bodyPr>
          <a:lstStyle/>
          <a:p>
            <a:r>
              <a:rPr kumimoji="1" lang="ja-JP" altLang="en-US" sz="4400" b="1" dirty="0">
                <a:solidFill>
                  <a:schemeClr val="bg1"/>
                </a:solidFill>
              </a:rPr>
              <a:t>①</a:t>
            </a:r>
            <a:r>
              <a:rPr kumimoji="1" lang="en-US" altLang="ja-JP" sz="4400" b="1" dirty="0">
                <a:solidFill>
                  <a:schemeClr val="bg1"/>
                </a:solidFill>
              </a:rPr>
              <a:t>	</a:t>
            </a:r>
            <a:r>
              <a:rPr lang="ja-JP" altLang="en-US" sz="3200" b="1" dirty="0">
                <a:solidFill>
                  <a:schemeClr val="bg1"/>
                </a:solidFill>
              </a:rPr>
              <a:t>空中追撃へ発展する</a:t>
            </a:r>
            <a:br>
              <a:rPr lang="en-US" altLang="ja-JP" sz="3200" b="1" dirty="0">
                <a:solidFill>
                  <a:schemeClr val="bg1"/>
                </a:solidFill>
              </a:rPr>
            </a:br>
            <a:r>
              <a:rPr lang="en-US" altLang="ja-JP" sz="3200" b="1" dirty="0">
                <a:solidFill>
                  <a:schemeClr val="bg1"/>
                </a:solidFill>
              </a:rPr>
              <a:t>		</a:t>
            </a:r>
            <a:r>
              <a:rPr lang="ja-JP" altLang="en-US" sz="3200" b="1" dirty="0">
                <a:solidFill>
                  <a:schemeClr val="bg1"/>
                </a:solidFill>
              </a:rPr>
              <a:t>立体的な</a:t>
            </a:r>
            <a:br>
              <a:rPr lang="en-US" altLang="ja-JP" sz="3200" b="1" dirty="0">
                <a:solidFill>
                  <a:schemeClr val="bg1"/>
                </a:solidFill>
              </a:rPr>
            </a:br>
            <a:r>
              <a:rPr lang="en-US" altLang="ja-JP" sz="3200" b="1" dirty="0">
                <a:solidFill>
                  <a:schemeClr val="bg1"/>
                </a:solidFill>
              </a:rPr>
              <a:t>		</a:t>
            </a:r>
            <a:r>
              <a:rPr lang="ja-JP" altLang="en-US" sz="3200" b="1" dirty="0">
                <a:solidFill>
                  <a:schemeClr val="bg1"/>
                </a:solidFill>
              </a:rPr>
              <a:t>コンボシステム</a:t>
            </a:r>
            <a:endParaRPr kumimoji="1" lang="ja-JP" altLang="en-US" sz="4400" b="1" dirty="0">
              <a:solidFill>
                <a:schemeClr val="bg1"/>
              </a:solidFill>
            </a:endParaRPr>
          </a:p>
        </p:txBody>
      </p:sp>
      <p:pic>
        <p:nvPicPr>
          <p:cNvPr id="3" name="図 2" descr="Ninja Gaiden 4 - 4 Core Skills You MUST Learn to Dominate and Have Fun -  Combat Guide">
            <a:extLst>
              <a:ext uri="{FF2B5EF4-FFF2-40B4-BE49-F238E27FC236}">
                <a16:creationId xmlns:a16="http://schemas.microsoft.com/office/drawing/2014/main" id="{CA8610E8-D34D-514A-5650-34DD9F848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309" y="743365"/>
            <a:ext cx="6693573" cy="376513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ED2241-0131-3ADD-B2E6-1B1E215B1491}"/>
              </a:ext>
            </a:extLst>
          </p:cNvPr>
          <p:cNvSpPr txBox="1"/>
          <p:nvPr/>
        </p:nvSpPr>
        <p:spPr>
          <a:xfrm>
            <a:off x="1076555" y="2271989"/>
            <a:ext cx="38651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000" b="1" dirty="0">
                <a:solidFill>
                  <a:schemeClr val="bg1"/>
                </a:solidFill>
              </a:rPr>
              <a:t>弱攻撃→強攻撃で</a:t>
            </a:r>
            <a:br>
              <a:rPr kumimoji="1" lang="en-US" altLang="ja-JP" sz="2000" b="1" dirty="0">
                <a:solidFill>
                  <a:schemeClr val="bg1"/>
                </a:solidFill>
              </a:rPr>
            </a:br>
            <a:r>
              <a:rPr kumimoji="1" lang="ja-JP" altLang="en-US" sz="2000" b="1" dirty="0">
                <a:solidFill>
                  <a:schemeClr val="bg1"/>
                </a:solidFill>
              </a:rPr>
              <a:t>スムーズに空中攻撃遷移する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ECE8EF-F26A-E8FA-B503-BDB4CA288C52}"/>
              </a:ext>
            </a:extLst>
          </p:cNvPr>
          <p:cNvSpPr txBox="1"/>
          <p:nvPr/>
        </p:nvSpPr>
        <p:spPr>
          <a:xfrm>
            <a:off x="1076555" y="5270501"/>
            <a:ext cx="5089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敵を切り上げ、自分も空中へ飛び、追撃する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空中コンボの最後で、地上へ敵を飛ばすなど</a:t>
            </a:r>
          </a:p>
        </p:txBody>
      </p:sp>
    </p:spTree>
    <p:extLst>
      <p:ext uri="{BB962C8B-B14F-4D97-AF65-F5344CB8AC3E}">
        <p14:creationId xmlns:p14="http://schemas.microsoft.com/office/powerpoint/2010/main" val="217148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F5B93A-851F-5D57-65E9-1847CFC1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7" y="267757"/>
            <a:ext cx="8534400" cy="1507067"/>
          </a:xfrm>
        </p:spPr>
        <p:txBody>
          <a:bodyPr/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②スキル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9EE46A-B858-B00E-CE54-0DE11AB6ADE9}"/>
              </a:ext>
            </a:extLst>
          </p:cNvPr>
          <p:cNvSpPr txBox="1"/>
          <p:nvPr/>
        </p:nvSpPr>
        <p:spPr>
          <a:xfrm>
            <a:off x="179387" y="1436270"/>
            <a:ext cx="39934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1"/>
                </a:solidFill>
              </a:rPr>
              <a:t>アーマー付きの攻撃</a:t>
            </a:r>
            <a:endParaRPr kumimoji="1" lang="en-US" altLang="ja-JP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通常攻撃をするとたまるゲージ式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範囲攻撃</a:t>
            </a:r>
          </a:p>
        </p:txBody>
      </p:sp>
      <p:pic>
        <p:nvPicPr>
          <p:cNvPr id="3" name="図 2" descr="NINJA GAIDEN 4』プレイレビュー：滅却に絶技に鵺の型。敵を斬るバッサリ感健在の超忍アクションが完全復活 - 電撃オンライン">
            <a:extLst>
              <a:ext uri="{FF2B5EF4-FFF2-40B4-BE49-F238E27FC236}">
                <a16:creationId xmlns:a16="http://schemas.microsoft.com/office/drawing/2014/main" id="{1850AC80-DD94-F7AC-269B-83212F758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840" y="677310"/>
            <a:ext cx="4891893" cy="275169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783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E93D46-882E-8288-FE12-68783749C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2" y="156632"/>
            <a:ext cx="8534400" cy="1507067"/>
          </a:xfrm>
        </p:spPr>
        <p:txBody>
          <a:bodyPr/>
          <a:lstStyle/>
          <a:p>
            <a:r>
              <a:rPr lang="ja-JP" altLang="en-US" b="1" dirty="0">
                <a:solidFill>
                  <a:schemeClr val="bg1"/>
                </a:solidFill>
              </a:rPr>
              <a:t>③必殺技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958D0E-1403-E2D4-3D43-D6F3AA23ACDB}"/>
              </a:ext>
            </a:extLst>
          </p:cNvPr>
          <p:cNvSpPr txBox="1"/>
          <p:nvPr/>
        </p:nvSpPr>
        <p:spPr>
          <a:xfrm>
            <a:off x="6344117" y="356895"/>
            <a:ext cx="6705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bg1"/>
                </a:solidFill>
              </a:rPr>
              <a:t>刀身が伸びる特大範囲攻撃</a:t>
            </a:r>
            <a:endParaRPr kumimoji="1" lang="en-US" altLang="ja-JP" sz="2800" dirty="0">
              <a:solidFill>
                <a:schemeClr val="bg1"/>
              </a:solidFill>
            </a:endParaRPr>
          </a:p>
          <a:p>
            <a:r>
              <a:rPr kumimoji="1" lang="ja-JP" altLang="en-US" sz="2800" dirty="0">
                <a:solidFill>
                  <a:schemeClr val="bg1"/>
                </a:solidFill>
              </a:rPr>
              <a:t>雑魚敵は一撃でやられ特別演出</a:t>
            </a:r>
            <a:endParaRPr kumimoji="1" lang="en-US" altLang="ja-JP" sz="2800" dirty="0">
              <a:solidFill>
                <a:schemeClr val="bg1"/>
              </a:solidFill>
            </a:endParaRPr>
          </a:p>
        </p:txBody>
      </p:sp>
      <p:pic>
        <p:nvPicPr>
          <p:cNvPr id="7" name="図 6" descr="レビュー【NINJA GAIDEN 4】血とアドレナリンが大噴出 | 忍者の腕を磨くアクションゲーム | KeepGamingOn">
            <a:extLst>
              <a:ext uri="{FF2B5EF4-FFF2-40B4-BE49-F238E27FC236}">
                <a16:creationId xmlns:a16="http://schemas.microsoft.com/office/drawing/2014/main" id="{E020657D-EA76-368D-F371-269AA1159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84" y="1663699"/>
            <a:ext cx="7924800" cy="44577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2504930"/>
      </p:ext>
    </p:extLst>
  </p:cSld>
  <p:clrMapOvr>
    <a:masterClrMapping/>
  </p:clrMapOvr>
</p:sld>
</file>

<file path=ppt/theme/theme1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おすすめ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841</TotalTime>
  <Words>262</Words>
  <Application>Microsoft Office PowerPoint</Application>
  <PresentationFormat>ワイド画面</PresentationFormat>
  <Paragraphs>44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 Medium</vt:lpstr>
      <vt:lpstr>Arial</vt:lpstr>
      <vt:lpstr>Wingdings 3</vt:lpstr>
      <vt:lpstr>スライス</vt:lpstr>
      <vt:lpstr>PowerPoint プレゼンテーション</vt:lpstr>
      <vt:lpstr>コンセプト</vt:lpstr>
      <vt:lpstr>ゲーム概要</vt:lpstr>
      <vt:lpstr>PowerPoint プレゼンテーション</vt:lpstr>
      <vt:lpstr>① 空中追撃へ発展する   立体的な   コンボシステム</vt:lpstr>
      <vt:lpstr>②スキル</vt:lpstr>
      <vt:lpstr>③必殺技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平尾　泰稀</dc:creator>
  <cp:lastModifiedBy>平尾　泰稀</cp:lastModifiedBy>
  <cp:revision>12</cp:revision>
  <dcterms:created xsi:type="dcterms:W3CDTF">2026-05-20T11:29:17Z</dcterms:created>
  <dcterms:modified xsi:type="dcterms:W3CDTF">2026-06-18T04:59:56Z</dcterms:modified>
</cp:coreProperties>
</file>