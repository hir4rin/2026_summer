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25" r:id="rId1"/>
  </p:sldMasterIdLst>
  <p:sldIdLst>
    <p:sldId id="256" r:id="rId2"/>
    <p:sldId id="257" r:id="rId3"/>
    <p:sldId id="259" r:id="rId4"/>
    <p:sldId id="258" r:id="rId5"/>
    <p:sldId id="260" r:id="rId6"/>
    <p:sldId id="263" r:id="rId7"/>
    <p:sldId id="261" r:id="rId8"/>
    <p:sldId id="262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16" autoAdjust="0"/>
    <p:restoredTop sz="94660"/>
  </p:normalViewPr>
  <p:slideViewPr>
    <p:cSldViewPr snapToGrid="0">
      <p:cViewPr varScale="1">
        <p:scale>
          <a:sx n="102" d="100"/>
          <a:sy n="102" d="100"/>
        </p:scale>
        <p:origin x="912" y="108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4212" y="685799"/>
            <a:ext cx="8001000" cy="2971801"/>
          </a:xfrm>
        </p:spPr>
        <p:txBody>
          <a:bodyPr anchor="b">
            <a:normAutofit/>
          </a:bodyPr>
          <a:lstStyle>
            <a:lvl1pPr algn="l">
              <a:defRPr sz="4800">
                <a:effectLst/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84212" y="3843867"/>
            <a:ext cx="6400800" cy="1947333"/>
          </a:xfrm>
        </p:spPr>
        <p:txBody>
          <a:bodyPr anchor="t">
            <a:normAutofit/>
          </a:bodyPr>
          <a:lstStyle>
            <a:lvl1pPr marL="0" indent="0" algn="l">
              <a:buNone/>
              <a:defRPr sz="21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ja-JP" altLang="en-US"/>
              <a:t>マスター サブタイトルの書式設定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pPr/>
              <a:t>5/31/2026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16" name="Straight Connector 15"/>
          <p:cNvCxnSpPr/>
          <p:nvPr/>
        </p:nvCxnSpPr>
        <p:spPr>
          <a:xfrm flipH="1">
            <a:off x="8228012" y="8467"/>
            <a:ext cx="3810000" cy="3810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/>
          <p:cNvCxnSpPr/>
          <p:nvPr/>
        </p:nvCxnSpPr>
        <p:spPr>
          <a:xfrm flipH="1">
            <a:off x="6108170" y="91545"/>
            <a:ext cx="6080655" cy="608065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/>
          <p:cNvCxnSpPr/>
          <p:nvPr/>
        </p:nvCxnSpPr>
        <p:spPr>
          <a:xfrm flipH="1">
            <a:off x="7235825" y="228600"/>
            <a:ext cx="4953000" cy="4953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/>
          <p:cNvCxnSpPr/>
          <p:nvPr/>
        </p:nvCxnSpPr>
        <p:spPr>
          <a:xfrm flipH="1">
            <a:off x="7335837" y="32278"/>
            <a:ext cx="4852989" cy="4852989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/>
          <p:cNvCxnSpPr/>
          <p:nvPr/>
        </p:nvCxnSpPr>
        <p:spPr>
          <a:xfrm flipH="1">
            <a:off x="7845426" y="609601"/>
            <a:ext cx="4343399" cy="4343399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5880633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pPr/>
              <a:t>5/31/2026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5881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1" y="2006600"/>
            <a:ext cx="8534401" cy="2281600"/>
          </a:xfrm>
        </p:spPr>
        <p:txBody>
          <a:bodyPr anchor="b">
            <a:normAutofit/>
          </a:bodyPr>
          <a:lstStyle>
            <a:lvl1pPr algn="l">
              <a:defRPr sz="3600" b="0" cap="all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3" y="4495800"/>
            <a:ext cx="8534400" cy="14986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pPr/>
              <a:t>5/31/2026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737843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4211" y="685800"/>
            <a:ext cx="4937655" cy="3615267"/>
          </a:xfrm>
        </p:spPr>
        <p:txBody>
          <a:bodyPr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08133" y="685801"/>
            <a:ext cx="4934479" cy="3615266"/>
          </a:xfrm>
        </p:spPr>
        <p:txBody>
          <a:bodyPr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pPr/>
              <a:t>5/31/2026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47039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72080" y="685800"/>
            <a:ext cx="4649787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4211" y="1270529"/>
            <a:ext cx="4937655" cy="3030538"/>
          </a:xfrm>
        </p:spPr>
        <p:txBody>
          <a:bodyPr anchor="t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079066" y="685800"/>
            <a:ext cx="4665134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806545" y="1262062"/>
            <a:ext cx="4929188" cy="3030538"/>
          </a:xfrm>
        </p:spPr>
        <p:txBody>
          <a:bodyPr anchor="t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pPr/>
              <a:t>5/31/2026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92686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pPr/>
              <a:t>5/31/2026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872994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pPr/>
              <a:t>5/31/2026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82028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85012" y="685800"/>
            <a:ext cx="3657600" cy="1371600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4212" y="685800"/>
            <a:ext cx="5943601" cy="5308600"/>
          </a:xfrm>
        </p:spPr>
        <p:txBody>
          <a:bodyPr anchor="ctr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085012" y="2209799"/>
            <a:ext cx="3657600" cy="2091267"/>
          </a:xfr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pPr/>
              <a:t>5/31/2026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276687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2812" y="1447800"/>
            <a:ext cx="6019800" cy="1143000"/>
          </a:xfrm>
        </p:spPr>
        <p:txBody>
          <a:bodyPr anchor="b">
            <a:normAutofit/>
          </a:bodyPr>
          <a:lstStyle>
            <a:lvl1pPr algn="l">
              <a:defRPr sz="2800" b="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89012" y="914400"/>
            <a:ext cx="3280974" cy="4572000"/>
          </a:xfrm>
          <a:prstGeom prst="snip2DiagRect">
            <a:avLst>
              <a:gd name="adj1" fmla="val 10815"/>
              <a:gd name="adj2" fmla="val 0"/>
            </a:avLst>
          </a:prstGeom>
          <a:ln w="15875">
            <a:solidFill>
              <a:schemeClr val="tx1">
                <a:alpha val="40000"/>
              </a:schemeClr>
            </a:soli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ja-JP" altLang="en-US"/>
              <a:t>アイコンをクリックして図を追加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2812" y="2777066"/>
            <a:ext cx="6021388" cy="2048933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pPr/>
              <a:t>5/31/2026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41794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パノラマ写真 (キャプション付き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7" name="Picture Placeholder 2"/>
          <p:cNvSpPr>
            <a:spLocks noGrp="1" noChangeAspect="1"/>
          </p:cNvSpPr>
          <p:nvPr>
            <p:ph type="pic" idx="13"/>
          </p:nvPr>
        </p:nvSpPr>
        <p:spPr>
          <a:xfrm>
            <a:off x="685800" y="533400"/>
            <a:ext cx="10818812" cy="3124200"/>
          </a:xfrm>
          <a:prstGeom prst="snip2DiagRect">
            <a:avLst>
              <a:gd name="adj1" fmla="val 10815"/>
              <a:gd name="adj2" fmla="val 0"/>
            </a:avLst>
          </a:prstGeom>
          <a:ln w="15875">
            <a:solidFill>
              <a:schemeClr val="tx1">
                <a:alpha val="40000"/>
              </a:schemeClr>
            </a:soli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ja-JP" altLang="en-US"/>
              <a:t>アイコンをクリックして図を追加</a:t>
            </a:r>
            <a:endParaRPr lang="en-US" dirty="0"/>
          </a:p>
        </p:txBody>
      </p:sp>
      <p:sp>
        <p:nvSpPr>
          <p:cNvPr id="16" name="Text Placeholder 9"/>
          <p:cNvSpPr>
            <a:spLocks noGrp="1"/>
          </p:cNvSpPr>
          <p:nvPr>
            <p:ph type="body" sz="quarter" idx="14"/>
          </p:nvPr>
        </p:nvSpPr>
        <p:spPr>
          <a:xfrm>
            <a:off x="914402" y="3843867"/>
            <a:ext cx="8304210" cy="457200"/>
          </a:xfrm>
        </p:spPr>
        <p:txBody>
          <a:bodyPr anchor="t">
            <a:normAutofit/>
          </a:bodyPr>
          <a:lstStyle>
            <a:lvl1pPr marL="0" indent="0">
              <a:buFontTx/>
              <a:buNone/>
              <a:defRPr sz="1600"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pPr/>
              <a:t>5/31/2026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539836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タイトルとキャプショ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3" y="685800"/>
            <a:ext cx="10058400" cy="2743200"/>
          </a:xfrm>
        </p:spPr>
        <p:txBody>
          <a:bodyPr anchor="ctr">
            <a:normAutofit/>
          </a:bodyPr>
          <a:lstStyle>
            <a:lvl1pPr algn="l">
              <a:defRPr sz="3200" b="0" cap="all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2" y="4114800"/>
            <a:ext cx="8535988" cy="18796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pPr/>
              <a:t>5/31/2026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268258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引用 (キャプション付き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85800"/>
            <a:ext cx="9144001" cy="2743200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446212" y="3429000"/>
            <a:ext cx="8534400" cy="381000"/>
          </a:xfrm>
        </p:spPr>
        <p:txBody>
          <a:bodyPr anchor="ctr"/>
          <a:lstStyle>
            <a:lvl1pPr marL="0" indent="0">
              <a:buFontTx/>
              <a:buNone/>
              <a:defRPr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3" y="4301067"/>
            <a:ext cx="8534400" cy="1684865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pPr/>
              <a:t>5/31/2026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531812" y="81222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5412" y="276860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7669684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名札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2" y="3429000"/>
            <a:ext cx="8534400" cy="1697400"/>
          </a:xfrm>
        </p:spPr>
        <p:txBody>
          <a:bodyPr anchor="b">
            <a:normAutofit/>
          </a:bodyPr>
          <a:lstStyle>
            <a:lvl1pPr algn="l">
              <a:defRPr sz="3200" b="0" cap="all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1" y="5132981"/>
            <a:ext cx="8535990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pPr/>
              <a:t>5/31/2026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049994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引用付きの名札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85800"/>
            <a:ext cx="9144000" cy="2743200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4212" y="3928534"/>
            <a:ext cx="8534401" cy="1049866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ja-JP" altLang="en-US"/>
              <a:t>マスター テキストの書式設定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1" y="4978400"/>
            <a:ext cx="8534401" cy="10160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pPr/>
              <a:t>5/31/2026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531812" y="81222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5412" y="276860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57945077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真または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3" y="685800"/>
            <a:ext cx="10058400" cy="2743200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4212" y="3928534"/>
            <a:ext cx="8534400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ja-JP" altLang="en-US"/>
              <a:t>マスター テキストの書式設定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1" y="4766732"/>
            <a:ext cx="8534401" cy="1227667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pPr/>
              <a:t>5/31/2026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326307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pPr/>
              <a:t>5/31/2026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751133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85212" y="685800"/>
            <a:ext cx="2057400" cy="4572000"/>
          </a:xfrm>
        </p:spPr>
        <p:txBody>
          <a:bodyPr vert="eaVert"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685800"/>
            <a:ext cx="7823200" cy="5308600"/>
          </a:xfrm>
        </p:spPr>
        <p:txBody>
          <a:bodyPr vert="eaVert" anchor="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pPr/>
              <a:t>5/31/2026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683513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9206969" y="2963333"/>
            <a:ext cx="2981858" cy="3208867"/>
            <a:chOff x="9206969" y="2963333"/>
            <a:chExt cx="2981858" cy="3208867"/>
          </a:xfrm>
        </p:grpSpPr>
        <p:cxnSp>
          <p:nvCxnSpPr>
            <p:cNvPr id="8" name="Straight Connector 7"/>
            <p:cNvCxnSpPr/>
            <p:nvPr/>
          </p:nvCxnSpPr>
          <p:spPr>
            <a:xfrm flipH="1">
              <a:off x="11276012" y="2963333"/>
              <a:ext cx="912814" cy="912812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/>
            <p:cNvCxnSpPr/>
            <p:nvPr/>
          </p:nvCxnSpPr>
          <p:spPr>
            <a:xfrm flipH="1">
              <a:off x="9206969" y="3190344"/>
              <a:ext cx="2981857" cy="2981856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/>
            <p:cNvCxnSpPr/>
            <p:nvPr/>
          </p:nvCxnSpPr>
          <p:spPr>
            <a:xfrm flipH="1">
              <a:off x="10292292" y="3285067"/>
              <a:ext cx="1896534" cy="1896533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/>
            <p:cNvCxnSpPr/>
            <p:nvPr/>
          </p:nvCxnSpPr>
          <p:spPr>
            <a:xfrm flipH="1">
              <a:off x="10443103" y="3131080"/>
              <a:ext cx="1745722" cy="174572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>
            <a:xfrm flipH="1">
              <a:off x="10918826" y="3683001"/>
              <a:ext cx="1270001" cy="1269999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4212" y="4487332"/>
            <a:ext cx="8534400" cy="1507067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2" y="685800"/>
            <a:ext cx="8534400" cy="361526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904412" y="617220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10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fld id="{E80C50CD-E178-4744-9B35-B2F624D6C5E9}" type="datetimeFigureOut">
              <a:rPr lang="en-US" smtClean="0"/>
              <a:pPr/>
              <a:t>5/31/2026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4212" y="6172200"/>
            <a:ext cx="7543800" cy="365125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0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63200" y="5578475"/>
            <a:ext cx="1142245" cy="6699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32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fld id="{148CC95F-0247-41B6-91CF-DC97C76A708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3113926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826" r:id="rId1"/>
    <p:sldLayoutId id="2147483827" r:id="rId2"/>
    <p:sldLayoutId id="2147483828" r:id="rId3"/>
    <p:sldLayoutId id="2147483829" r:id="rId4"/>
    <p:sldLayoutId id="2147483830" r:id="rId5"/>
    <p:sldLayoutId id="2147483831" r:id="rId6"/>
    <p:sldLayoutId id="2147483832" r:id="rId7"/>
    <p:sldLayoutId id="2147483833" r:id="rId8"/>
    <p:sldLayoutId id="2147483834" r:id="rId9"/>
    <p:sldLayoutId id="2147483835" r:id="rId10"/>
    <p:sldLayoutId id="2147483836" r:id="rId11"/>
    <p:sldLayoutId id="2147483837" r:id="rId12"/>
    <p:sldLayoutId id="2147483838" r:id="rId13"/>
    <p:sldLayoutId id="2147483839" r:id="rId14"/>
    <p:sldLayoutId id="2147483840" r:id="rId15"/>
    <p:sldLayoutId id="2147483841" r:id="rId16"/>
    <p:sldLayoutId id="2147483842" r:id="rId17"/>
  </p:sldLayoutIdLst>
  <p:txStyles>
    <p:titleStyle>
      <a:lvl1pPr algn="l" defTabSz="457200" rtl="0" eaLnBrk="1" latinLnBrk="0" hangingPunct="1">
        <a:spcBef>
          <a:spcPct val="0"/>
        </a:spcBef>
        <a:buNone/>
        <a:defRPr kumimoji="1" sz="3600" kern="1200" cap="all">
          <a:ln w="3175" cmpd="sng">
            <a:noFill/>
          </a:ln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eaLnBrk="1" hangingPunct="1">
        <a:defRPr kumimoji="1">
          <a:solidFill>
            <a:schemeClr val="tx2"/>
          </a:solidFill>
        </a:defRPr>
      </a:lvl2pPr>
      <a:lvl3pPr eaLnBrk="1" hangingPunct="1">
        <a:defRPr kumimoji="1">
          <a:solidFill>
            <a:schemeClr val="tx2"/>
          </a:solidFill>
        </a:defRPr>
      </a:lvl3pPr>
      <a:lvl4pPr eaLnBrk="1" hangingPunct="1">
        <a:defRPr kumimoji="1">
          <a:solidFill>
            <a:schemeClr val="tx2"/>
          </a:solidFill>
        </a:defRPr>
      </a:lvl4pPr>
      <a:lvl5pPr eaLnBrk="1" hangingPunct="1">
        <a:defRPr kumimoji="1">
          <a:solidFill>
            <a:schemeClr val="tx2"/>
          </a:solidFill>
        </a:defRPr>
      </a:lvl5pPr>
      <a:lvl6pPr eaLnBrk="1" hangingPunct="1">
        <a:defRPr kumimoji="1">
          <a:solidFill>
            <a:schemeClr val="tx2"/>
          </a:solidFill>
        </a:defRPr>
      </a:lvl6pPr>
      <a:lvl7pPr eaLnBrk="1" hangingPunct="1">
        <a:defRPr kumimoji="1">
          <a:solidFill>
            <a:schemeClr val="tx2"/>
          </a:solidFill>
        </a:defRPr>
      </a:lvl7pPr>
      <a:lvl8pPr eaLnBrk="1" hangingPunct="1">
        <a:defRPr kumimoji="1">
          <a:solidFill>
            <a:schemeClr val="tx2"/>
          </a:solidFill>
        </a:defRPr>
      </a:lvl8pPr>
      <a:lvl9pPr eaLnBrk="1" hangingPunct="1">
        <a:defRPr kumimoji="1"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kumimoji="1" sz="20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kumimoji="1" sz="18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kumimoji="1" sz="16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kumimoji="1"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kumimoji="1"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kumimoji="1"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kumimoji="1"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kumimoji="1"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kumimoji="1"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10000">
              <a:schemeClr val="bg2">
                <a:tint val="97000"/>
                <a:hueMod val="92000"/>
                <a:satMod val="169000"/>
                <a:lumMod val="164000"/>
              </a:schemeClr>
            </a:gs>
            <a:gs pos="100000">
              <a:schemeClr val="bg2">
                <a:shade val="96000"/>
                <a:satMod val="120000"/>
                <a:lumMod val="90000"/>
              </a:schemeClr>
            </a:gs>
          </a:gsLst>
          <a:lin ang="612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" name="Rectangle 8">
            <a:extLst>
              <a:ext uri="{FF2B5EF4-FFF2-40B4-BE49-F238E27FC236}">
                <a16:creationId xmlns:a16="http://schemas.microsoft.com/office/drawing/2014/main" id="{01E688E0-C729-4E49-9E7B-4697607DBE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39FD72C-2790-48C4-3831-85C6479A964B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  <a:alphaModFix amt="19000"/>
          </a:blip>
          <a:srcRect/>
          <a:stretch>
            <a:fillRect/>
          </a:stretch>
        </p:blipFill>
        <p:spPr>
          <a:xfrm>
            <a:off x="12180" y="10"/>
            <a:ext cx="12191980" cy="6857990"/>
          </a:xfrm>
          <a:prstGeom prst="rect">
            <a:avLst/>
          </a:prstGeom>
        </p:spPr>
      </p:pic>
      <p:grpSp>
        <p:nvGrpSpPr>
          <p:cNvPr id="7" name="Group 10">
            <a:extLst>
              <a:ext uri="{FF2B5EF4-FFF2-40B4-BE49-F238E27FC236}">
                <a16:creationId xmlns:a16="http://schemas.microsoft.com/office/drawing/2014/main" id="{AAD89D74-79DD-4BE2-AA8C-8672382F25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6108170" y="9144"/>
            <a:ext cx="6080656" cy="6163733"/>
            <a:chOff x="6108170" y="8467"/>
            <a:chExt cx="6080656" cy="6163733"/>
          </a:xfrm>
        </p:grpSpPr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EA020D6D-57F1-4846-9467-5E54F5B88A1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8228012" y="8467"/>
              <a:ext cx="3810000" cy="381000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FBA67610-3DFA-4B04-A0F3-FFBF2C97E8F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6108170" y="91545"/>
              <a:ext cx="6080655" cy="6080655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96F9FAA7-B1F5-4E7B-BEC6-00158A5F05F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7235825" y="228600"/>
              <a:ext cx="4953000" cy="495300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4174CF9-D8AD-4A5C-BF99-57B43506DAD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7335837" y="32278"/>
              <a:ext cx="4852989" cy="4852989"/>
            </a:xfrm>
            <a:prstGeom prst="line">
              <a:avLst/>
            </a:prstGeom>
            <a:ln w="317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B76B22A1-F450-4EAF-A363-7222D3D529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7845426" y="609601"/>
              <a:ext cx="4343399" cy="4343399"/>
            </a:xfrm>
            <a:prstGeom prst="line">
              <a:avLst/>
            </a:prstGeom>
            <a:ln w="317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B1E582F0-B62A-0A3D-1733-5AD4508726F0}"/>
              </a:ext>
            </a:extLst>
          </p:cNvPr>
          <p:cNvSpPr txBox="1"/>
          <p:nvPr/>
        </p:nvSpPr>
        <p:spPr>
          <a:xfrm>
            <a:off x="2914911" y="208774"/>
            <a:ext cx="5876930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9600" b="1" spc="3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忍者外伝</a:t>
            </a:r>
            <a:r>
              <a:rPr kumimoji="1" lang="en-US" altLang="ja-JP" sz="9600" b="1" spc="3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4</a:t>
            </a: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7BBD399E-97D9-B6AB-D335-687CAB95C9BA}"/>
              </a:ext>
            </a:extLst>
          </p:cNvPr>
          <p:cNvSpPr txBox="1"/>
          <p:nvPr/>
        </p:nvSpPr>
        <p:spPr>
          <a:xfrm>
            <a:off x="7335837" y="5223505"/>
            <a:ext cx="566373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400" dirty="0">
                <a:solidFill>
                  <a:schemeClr val="bg1"/>
                </a:solidFill>
              </a:rPr>
              <a:t>ジャンル：</a:t>
            </a:r>
            <a:r>
              <a:rPr kumimoji="1" lang="en-US" altLang="ja-JP" sz="2400" dirty="0">
                <a:solidFill>
                  <a:schemeClr val="bg1"/>
                </a:solidFill>
              </a:rPr>
              <a:t>3D</a:t>
            </a:r>
            <a:r>
              <a:rPr kumimoji="1" lang="ja-JP" altLang="en-US" sz="2400" dirty="0">
                <a:solidFill>
                  <a:schemeClr val="bg1"/>
                </a:solidFill>
              </a:rPr>
              <a:t>アクション</a:t>
            </a:r>
            <a:br>
              <a:rPr kumimoji="1" lang="en-US" altLang="ja-JP" sz="2400" dirty="0">
                <a:solidFill>
                  <a:schemeClr val="bg1"/>
                </a:solidFill>
              </a:rPr>
            </a:br>
            <a:r>
              <a:rPr kumimoji="1" lang="ja-JP" altLang="en-US" sz="2400" dirty="0">
                <a:solidFill>
                  <a:schemeClr val="bg1"/>
                </a:solidFill>
              </a:rPr>
              <a:t>プレイ人数：</a:t>
            </a:r>
            <a:r>
              <a:rPr kumimoji="1" lang="en-US" altLang="ja-JP" sz="2400" dirty="0">
                <a:solidFill>
                  <a:schemeClr val="bg1"/>
                </a:solidFill>
              </a:rPr>
              <a:t>1</a:t>
            </a:r>
            <a:r>
              <a:rPr kumimoji="1" lang="ja-JP" altLang="en-US" sz="2400" dirty="0">
                <a:solidFill>
                  <a:schemeClr val="bg1"/>
                </a:solidFill>
              </a:rPr>
              <a:t>人プレイ</a:t>
            </a:r>
            <a:br>
              <a:rPr kumimoji="1" lang="en-US" altLang="ja-JP" sz="2400" dirty="0">
                <a:solidFill>
                  <a:schemeClr val="bg1"/>
                </a:solidFill>
              </a:rPr>
            </a:br>
            <a:r>
              <a:rPr kumimoji="1" lang="ja-JP" altLang="en-US" sz="2400" dirty="0">
                <a:solidFill>
                  <a:schemeClr val="bg1"/>
                </a:solidFill>
              </a:rPr>
              <a:t>プラットフォーム：</a:t>
            </a:r>
            <a:r>
              <a:rPr kumimoji="1" lang="en-US" altLang="ja-JP" sz="2400" dirty="0">
                <a:solidFill>
                  <a:schemeClr val="bg1"/>
                </a:solidFill>
              </a:rPr>
              <a:t>Windows</a:t>
            </a:r>
            <a:endParaRPr kumimoji="1" lang="ja-JP" altLang="en-US" sz="2400" dirty="0">
              <a:solidFill>
                <a:schemeClr val="bg1"/>
              </a:solidFill>
            </a:endParaRPr>
          </a:p>
        </p:txBody>
      </p:sp>
      <p:pic>
        <p:nvPicPr>
          <p:cNvPr id="3" name="図 2" descr="Stellar Blade』(Project EVE) ストーリートレーラー | PS5™ - YouTube">
            <a:extLst>
              <a:ext uri="{FF2B5EF4-FFF2-40B4-BE49-F238E27FC236}">
                <a16:creationId xmlns:a16="http://schemas.microsoft.com/office/drawing/2014/main" id="{CD994FA2-C94A-1FB4-3A78-40248DC9E335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4911" y="1894985"/>
            <a:ext cx="6096000" cy="4572000"/>
          </a:xfrm>
          <a:prstGeom prst="snip2Diag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chemeClr val="bg1"/>
            </a:solidFill>
            <a:miter lim="800000"/>
          </a:ln>
          <a:effectLst>
            <a:outerShdw blurRad="88900" algn="tl" rotWithShape="0">
              <a:srgbClr val="000000">
                <a:alpha val="45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101276004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 descr="Stellar Blade』Steam版がいよいよリリース！PC向けに最適化されたグラフィックでイヴの物語を楽しもう―採れたて！本日のSteam注目ゲーム6選【2025年6月12日】  | Game*Spark - 国内・海外ゲーム情報サイト">
            <a:extLst>
              <a:ext uri="{FF2B5EF4-FFF2-40B4-BE49-F238E27FC236}">
                <a16:creationId xmlns:a16="http://schemas.microsoft.com/office/drawing/2014/main" id="{8F1E7E7B-4C0D-3C0F-CAAF-0D6D2086876F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39000"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タイトル 1">
            <a:extLst>
              <a:ext uri="{FF2B5EF4-FFF2-40B4-BE49-F238E27FC236}">
                <a16:creationId xmlns:a16="http://schemas.microsoft.com/office/drawing/2014/main" id="{E0513FD5-E2BE-FCEC-3554-44D60E8C15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83454" y="254697"/>
            <a:ext cx="8534400" cy="1507067"/>
          </a:xfrm>
        </p:spPr>
        <p:txBody>
          <a:bodyPr>
            <a:normAutofit/>
          </a:bodyPr>
          <a:lstStyle/>
          <a:p>
            <a:pPr algn="ctr"/>
            <a:r>
              <a:rPr lang="ja-JP" altLang="en-US" sz="8800" dirty="0">
                <a:solidFill>
                  <a:schemeClr val="bg1"/>
                </a:solidFill>
                <a:highlight>
                  <a:srgbClr val="FFFF00"/>
                </a:highlight>
              </a:rPr>
              <a:t>コンセプト</a:t>
            </a:r>
            <a:endParaRPr kumimoji="1" lang="ja-JP" altLang="en-US" sz="8800" dirty="0">
              <a:solidFill>
                <a:schemeClr val="bg1"/>
              </a:solidFill>
              <a:highlight>
                <a:srgbClr val="FFFF00"/>
              </a:highlight>
            </a:endParaRP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0D041DB-0389-1C20-A77E-F4A383363487}"/>
              </a:ext>
            </a:extLst>
          </p:cNvPr>
          <p:cNvSpPr txBox="1"/>
          <p:nvPr/>
        </p:nvSpPr>
        <p:spPr>
          <a:xfrm>
            <a:off x="2338774" y="4662604"/>
            <a:ext cx="787908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4000" b="1" dirty="0">
                <a:solidFill>
                  <a:schemeClr val="bg1"/>
                </a:solidFill>
                <a:highlight>
                  <a:srgbClr val="FFFF00"/>
                </a:highlight>
              </a:rPr>
              <a:t>爽快なスタイリッシュアクション</a:t>
            </a:r>
          </a:p>
        </p:txBody>
      </p:sp>
    </p:spTree>
    <p:extLst>
      <p:ext uri="{BB962C8B-B14F-4D97-AF65-F5344CB8AC3E}">
        <p14:creationId xmlns:p14="http://schemas.microsoft.com/office/powerpoint/2010/main" val="25642372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7C17F12-DDD3-917F-6821-D17D426898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384" y="137401"/>
            <a:ext cx="8534400" cy="1507067"/>
          </a:xfrm>
        </p:spPr>
        <p:txBody>
          <a:bodyPr>
            <a:normAutofit/>
          </a:bodyPr>
          <a:lstStyle/>
          <a:p>
            <a:r>
              <a:rPr kumimoji="1" lang="ja-JP" altLang="en-US" sz="5400" dirty="0">
                <a:solidFill>
                  <a:schemeClr val="bg1"/>
                </a:solidFill>
              </a:rPr>
              <a:t>ゲーム概要</a:t>
            </a:r>
          </a:p>
        </p:txBody>
      </p:sp>
      <p:pic>
        <p:nvPicPr>
          <p:cNvPr id="4" name="図 3" descr="Stellar Blade】崩壊した地球を駆ける艶やか戦士 - 攻略とレビュー | KeepGamingOn">
            <a:extLst>
              <a:ext uri="{FF2B5EF4-FFF2-40B4-BE49-F238E27FC236}">
                <a16:creationId xmlns:a16="http://schemas.microsoft.com/office/drawing/2014/main" id="{CEF96641-5895-A4F4-B364-3EE8F369DC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8942" y="137401"/>
            <a:ext cx="4885050" cy="274784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grpSp>
        <p:nvGrpSpPr>
          <p:cNvPr id="10" name="グループ化 9">
            <a:extLst>
              <a:ext uri="{FF2B5EF4-FFF2-40B4-BE49-F238E27FC236}">
                <a16:creationId xmlns:a16="http://schemas.microsoft.com/office/drawing/2014/main" id="{98C85823-8206-A90C-0C97-F12782AB09C0}"/>
              </a:ext>
            </a:extLst>
          </p:cNvPr>
          <p:cNvGrpSpPr/>
          <p:nvPr/>
        </p:nvGrpSpPr>
        <p:grpSpPr>
          <a:xfrm>
            <a:off x="1186890" y="1731319"/>
            <a:ext cx="1809750" cy="5001798"/>
            <a:chOff x="970990" y="1362770"/>
            <a:chExt cx="1809750" cy="5001798"/>
          </a:xfrm>
        </p:grpSpPr>
        <p:sp>
          <p:nvSpPr>
            <p:cNvPr id="6" name="正方形/長方形 5">
              <a:extLst>
                <a:ext uri="{FF2B5EF4-FFF2-40B4-BE49-F238E27FC236}">
                  <a16:creationId xmlns:a16="http://schemas.microsoft.com/office/drawing/2014/main" id="{DD40F036-D24B-EA1D-751F-EC5246827258}"/>
                </a:ext>
              </a:extLst>
            </p:cNvPr>
            <p:cNvSpPr/>
            <p:nvPr/>
          </p:nvSpPr>
          <p:spPr>
            <a:xfrm>
              <a:off x="1559859" y="1460318"/>
              <a:ext cx="632012" cy="4904250"/>
            </a:xfrm>
            <a:prstGeom prst="rect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7" name="楕円 6">
              <a:extLst>
                <a:ext uri="{FF2B5EF4-FFF2-40B4-BE49-F238E27FC236}">
                  <a16:creationId xmlns:a16="http://schemas.microsoft.com/office/drawing/2014/main" id="{FA456704-3739-6A12-3F7D-4E13C7DCE384}"/>
                </a:ext>
              </a:extLst>
            </p:cNvPr>
            <p:cNvSpPr/>
            <p:nvPr/>
          </p:nvSpPr>
          <p:spPr>
            <a:xfrm>
              <a:off x="970990" y="4572000"/>
              <a:ext cx="1809750" cy="1066800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8" name="楕円 7">
              <a:extLst>
                <a:ext uri="{FF2B5EF4-FFF2-40B4-BE49-F238E27FC236}">
                  <a16:creationId xmlns:a16="http://schemas.microsoft.com/office/drawing/2014/main" id="{C6FEC104-E853-34B9-BCBC-F946CBC3E9E5}"/>
                </a:ext>
              </a:extLst>
            </p:cNvPr>
            <p:cNvSpPr/>
            <p:nvPr/>
          </p:nvSpPr>
          <p:spPr>
            <a:xfrm>
              <a:off x="970990" y="2967385"/>
              <a:ext cx="1809750" cy="1066800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9" name="楕円 8">
              <a:extLst>
                <a:ext uri="{FF2B5EF4-FFF2-40B4-BE49-F238E27FC236}">
                  <a16:creationId xmlns:a16="http://schemas.microsoft.com/office/drawing/2014/main" id="{EFC14CCF-101C-2434-237E-06FFA3587016}"/>
                </a:ext>
              </a:extLst>
            </p:cNvPr>
            <p:cNvSpPr/>
            <p:nvPr/>
          </p:nvSpPr>
          <p:spPr>
            <a:xfrm>
              <a:off x="970990" y="1362770"/>
              <a:ext cx="1809750" cy="1066800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CF2448D4-12CE-7678-49AC-2BFD29BABFBC}"/>
              </a:ext>
            </a:extLst>
          </p:cNvPr>
          <p:cNvSpPr txBox="1"/>
          <p:nvPr/>
        </p:nvSpPr>
        <p:spPr>
          <a:xfrm>
            <a:off x="1295400" y="1410761"/>
            <a:ext cx="18004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solidFill>
                  <a:schemeClr val="bg1"/>
                </a:solidFill>
              </a:rPr>
              <a:t>【</a:t>
            </a:r>
            <a:r>
              <a:rPr kumimoji="1" lang="ja-JP" altLang="en-US" dirty="0">
                <a:solidFill>
                  <a:schemeClr val="bg1"/>
                </a:solidFill>
              </a:rPr>
              <a:t>ステージ図</a:t>
            </a:r>
            <a:r>
              <a:rPr kumimoji="1" lang="en-US" altLang="ja-JP" dirty="0">
                <a:solidFill>
                  <a:schemeClr val="bg1"/>
                </a:solidFill>
              </a:rPr>
              <a:t>】</a:t>
            </a:r>
            <a:endParaRPr kumimoji="1" lang="ja-JP" altLang="en-US" dirty="0">
              <a:solidFill>
                <a:schemeClr val="bg1"/>
              </a:solidFill>
            </a:endParaRP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F5959898-2E19-2039-3D78-1C2EF01B22C7}"/>
              </a:ext>
            </a:extLst>
          </p:cNvPr>
          <p:cNvSpPr txBox="1"/>
          <p:nvPr/>
        </p:nvSpPr>
        <p:spPr>
          <a:xfrm>
            <a:off x="3828151" y="1828867"/>
            <a:ext cx="2109873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kumimoji="1" lang="en-US" altLang="ja-JP" sz="2800" dirty="0">
                <a:solidFill>
                  <a:schemeClr val="bg1"/>
                </a:solidFill>
              </a:rPr>
              <a:t>1</a:t>
            </a:r>
            <a:r>
              <a:rPr kumimoji="1" lang="ja-JP" altLang="en-US" sz="2800" dirty="0">
                <a:solidFill>
                  <a:schemeClr val="bg1"/>
                </a:solidFill>
              </a:rPr>
              <a:t>本道</a:t>
            </a:r>
            <a:endParaRPr kumimoji="1" lang="en-US" altLang="ja-JP" sz="2800" dirty="0">
              <a:solidFill>
                <a:schemeClr val="bg1"/>
              </a:solidFill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kumimoji="1" lang="en-US" altLang="ja-JP" sz="2800" dirty="0">
                <a:solidFill>
                  <a:schemeClr val="bg1"/>
                </a:solidFill>
              </a:rPr>
              <a:t>3Wave</a:t>
            </a:r>
            <a:r>
              <a:rPr kumimoji="1" lang="ja-JP" altLang="en-US" sz="2800" dirty="0">
                <a:solidFill>
                  <a:schemeClr val="bg1"/>
                </a:solidFill>
              </a:rPr>
              <a:t>制</a:t>
            </a:r>
            <a:br>
              <a:rPr kumimoji="1" lang="en-US" altLang="ja-JP" sz="2800" dirty="0">
                <a:solidFill>
                  <a:schemeClr val="bg1"/>
                </a:solidFill>
              </a:rPr>
            </a:br>
            <a:endParaRPr kumimoji="1" lang="ja-JP" altLang="en-US" sz="2800" dirty="0">
              <a:solidFill>
                <a:schemeClr val="bg1"/>
              </a:solidFill>
            </a:endParaRPr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06DC4E86-D9DE-B4FC-429D-0525C1C8FB00}"/>
              </a:ext>
            </a:extLst>
          </p:cNvPr>
          <p:cNvSpPr txBox="1"/>
          <p:nvPr/>
        </p:nvSpPr>
        <p:spPr>
          <a:xfrm>
            <a:off x="3985765" y="3644139"/>
            <a:ext cx="3199915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>
                <a:solidFill>
                  <a:schemeClr val="bg1"/>
                </a:solidFill>
              </a:rPr>
              <a:t>雑魚敵：</a:t>
            </a:r>
            <a:r>
              <a:rPr kumimoji="1" lang="en-US" altLang="ja-JP" dirty="0">
                <a:solidFill>
                  <a:schemeClr val="bg1"/>
                </a:solidFill>
              </a:rPr>
              <a:t>2-3</a:t>
            </a:r>
            <a:r>
              <a:rPr kumimoji="1" lang="ja-JP" altLang="en-US" dirty="0">
                <a:solidFill>
                  <a:schemeClr val="bg1"/>
                </a:solidFill>
              </a:rPr>
              <a:t>種</a:t>
            </a:r>
            <a:endParaRPr kumimoji="1" lang="en-US" altLang="ja-JP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>
                <a:solidFill>
                  <a:schemeClr val="bg1"/>
                </a:solidFill>
              </a:rPr>
              <a:t>中ボス：</a:t>
            </a:r>
            <a:r>
              <a:rPr kumimoji="1" lang="en-US" altLang="ja-JP" dirty="0">
                <a:solidFill>
                  <a:schemeClr val="bg1"/>
                </a:solidFill>
              </a:rPr>
              <a:t>1</a:t>
            </a:r>
            <a:r>
              <a:rPr kumimoji="1" lang="ja-JP" altLang="en-US" dirty="0">
                <a:solidFill>
                  <a:schemeClr val="bg1"/>
                </a:solidFill>
              </a:rPr>
              <a:t>種</a:t>
            </a:r>
            <a:endParaRPr kumimoji="1" lang="en-US" altLang="ja-JP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>
                <a:solidFill>
                  <a:schemeClr val="bg1"/>
                </a:solidFill>
              </a:rPr>
              <a:t>ボス</a:t>
            </a:r>
            <a:r>
              <a:rPr kumimoji="1" lang="en-US" altLang="ja-JP" dirty="0">
                <a:solidFill>
                  <a:schemeClr val="bg1"/>
                </a:solidFill>
              </a:rPr>
              <a:t>1</a:t>
            </a:r>
            <a:r>
              <a:rPr kumimoji="1" lang="ja-JP" altLang="en-US" dirty="0">
                <a:solidFill>
                  <a:schemeClr val="bg1"/>
                </a:solidFill>
              </a:rPr>
              <a:t>種</a:t>
            </a:r>
            <a:endParaRPr kumimoji="1" lang="en-US" altLang="ja-JP" dirty="0">
              <a:solidFill>
                <a:schemeClr val="bg1"/>
              </a:solidFill>
            </a:endParaRPr>
          </a:p>
          <a:p>
            <a:endParaRPr kumimoji="1" lang="en-US" altLang="ja-JP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>
                <a:solidFill>
                  <a:schemeClr val="bg1"/>
                </a:solidFill>
              </a:rPr>
              <a:t>ステージ数：</a:t>
            </a:r>
            <a:r>
              <a:rPr kumimoji="1" lang="en-US" altLang="ja-JP" dirty="0">
                <a:solidFill>
                  <a:schemeClr val="bg1"/>
                </a:solidFill>
              </a:rPr>
              <a:t>1~2</a:t>
            </a:r>
            <a:r>
              <a:rPr kumimoji="1" lang="ja-JP" altLang="en-US" dirty="0">
                <a:solidFill>
                  <a:schemeClr val="bg1"/>
                </a:solidFill>
              </a:rPr>
              <a:t>ステージ</a:t>
            </a:r>
            <a:br>
              <a:rPr kumimoji="1" lang="en-US" altLang="ja-JP" dirty="0">
                <a:solidFill>
                  <a:schemeClr val="bg1"/>
                </a:solidFill>
              </a:rPr>
            </a:br>
            <a:endParaRPr kumimoji="1" lang="ja-JP" alt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66080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B6FE4787-4B4C-A93C-7FC6-C12F63A3725C}"/>
              </a:ext>
            </a:extLst>
          </p:cNvPr>
          <p:cNvSpPr txBox="1"/>
          <p:nvPr/>
        </p:nvSpPr>
        <p:spPr>
          <a:xfrm>
            <a:off x="352698" y="483326"/>
            <a:ext cx="428835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4000" b="1" dirty="0">
                <a:solidFill>
                  <a:schemeClr val="bg1"/>
                </a:solidFill>
              </a:rPr>
              <a:t>プレイヤーの操作</a:t>
            </a:r>
          </a:p>
        </p:txBody>
      </p:sp>
      <p:pic>
        <p:nvPicPr>
          <p:cNvPr id="6" name="図 5" descr="Stellar Blade: A beginner's guide to combat - Guides &amp; Editorial |  PlayStation (UK)">
            <a:extLst>
              <a:ext uri="{FF2B5EF4-FFF2-40B4-BE49-F238E27FC236}">
                <a16:creationId xmlns:a16="http://schemas.microsoft.com/office/drawing/2014/main" id="{83F997E7-7B8A-CAC6-8FFD-3DCE324A9D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91458" y="146184"/>
            <a:ext cx="4947844" cy="2783162"/>
          </a:xfrm>
          <a:prstGeom prst="ellipse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9E0080DA-B731-B659-C762-4C63C5FA9194}"/>
              </a:ext>
            </a:extLst>
          </p:cNvPr>
          <p:cNvSpPr txBox="1"/>
          <p:nvPr/>
        </p:nvSpPr>
        <p:spPr>
          <a:xfrm>
            <a:off x="708144" y="1191212"/>
            <a:ext cx="5565947" cy="523220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sz="2800" b="1" u="sng" dirty="0">
                <a:solidFill>
                  <a:schemeClr val="bg1"/>
                </a:solidFill>
              </a:rPr>
              <a:t>通常攻撃</a:t>
            </a:r>
            <a:endParaRPr kumimoji="1" lang="en-US" altLang="ja-JP" sz="2800" b="1" u="sng" dirty="0">
              <a:solidFill>
                <a:schemeClr val="bg1"/>
              </a:solidFill>
            </a:endParaRPr>
          </a:p>
          <a:p>
            <a:r>
              <a:rPr kumimoji="1" lang="en-US" altLang="ja-JP" b="1" dirty="0">
                <a:solidFill>
                  <a:schemeClr val="bg1"/>
                </a:solidFill>
              </a:rPr>
              <a:t>	</a:t>
            </a:r>
            <a:r>
              <a:rPr kumimoji="1" lang="ja-JP" altLang="en-US" b="1" dirty="0">
                <a:solidFill>
                  <a:schemeClr val="bg1"/>
                </a:solidFill>
              </a:rPr>
              <a:t>弱攻撃</a:t>
            </a:r>
            <a:r>
              <a:rPr kumimoji="1" lang="en-US" altLang="ja-JP" b="1" dirty="0">
                <a:solidFill>
                  <a:schemeClr val="bg1"/>
                </a:solidFill>
              </a:rPr>
              <a:t>(</a:t>
            </a:r>
            <a:r>
              <a:rPr kumimoji="1" lang="ja-JP" altLang="en-US" b="1" dirty="0">
                <a:solidFill>
                  <a:schemeClr val="bg1"/>
                </a:solidFill>
              </a:rPr>
              <a:t>弱攻撃</a:t>
            </a:r>
            <a:r>
              <a:rPr kumimoji="1" lang="en-US" altLang="ja-JP" b="1" dirty="0">
                <a:solidFill>
                  <a:schemeClr val="bg1"/>
                </a:solidFill>
              </a:rPr>
              <a:t>5</a:t>
            </a:r>
            <a:r>
              <a:rPr kumimoji="1" lang="ja-JP" altLang="en-US" b="1" dirty="0">
                <a:solidFill>
                  <a:schemeClr val="bg1"/>
                </a:solidFill>
              </a:rPr>
              <a:t>段</a:t>
            </a:r>
            <a:r>
              <a:rPr kumimoji="1" lang="en-US" altLang="ja-JP" b="1" dirty="0">
                <a:solidFill>
                  <a:schemeClr val="bg1"/>
                </a:solidFill>
              </a:rPr>
              <a:t>)</a:t>
            </a:r>
          </a:p>
          <a:p>
            <a:r>
              <a:rPr kumimoji="1" lang="en-US" altLang="ja-JP" b="1" dirty="0">
                <a:solidFill>
                  <a:schemeClr val="bg1"/>
                </a:solidFill>
              </a:rPr>
              <a:t>	</a:t>
            </a:r>
            <a:r>
              <a:rPr kumimoji="1" lang="ja-JP" altLang="en-US" b="1" dirty="0">
                <a:solidFill>
                  <a:schemeClr val="bg1"/>
                </a:solidFill>
              </a:rPr>
              <a:t>強攻撃</a:t>
            </a:r>
            <a:r>
              <a:rPr kumimoji="1" lang="en-US" altLang="ja-JP" b="1" dirty="0">
                <a:solidFill>
                  <a:schemeClr val="bg1"/>
                </a:solidFill>
              </a:rPr>
              <a:t>(</a:t>
            </a:r>
            <a:r>
              <a:rPr kumimoji="1" lang="ja-JP" altLang="en-US" b="1" dirty="0">
                <a:solidFill>
                  <a:schemeClr val="bg1"/>
                </a:solidFill>
              </a:rPr>
              <a:t>少なめ、かつあっても</a:t>
            </a:r>
            <a:r>
              <a:rPr kumimoji="1" lang="en-US" altLang="ja-JP" b="1" dirty="0">
                <a:solidFill>
                  <a:schemeClr val="bg1"/>
                </a:solidFill>
              </a:rPr>
              <a:t>2</a:t>
            </a:r>
            <a:r>
              <a:rPr kumimoji="1" lang="ja-JP" altLang="en-US" b="1" dirty="0">
                <a:solidFill>
                  <a:schemeClr val="bg1"/>
                </a:solidFill>
              </a:rPr>
              <a:t>段まで</a:t>
            </a:r>
            <a:r>
              <a:rPr kumimoji="1" lang="en-US" altLang="ja-JP" b="1" dirty="0">
                <a:solidFill>
                  <a:schemeClr val="bg1"/>
                </a:solidFill>
              </a:rPr>
              <a:t>)</a:t>
            </a:r>
          </a:p>
          <a:p>
            <a:r>
              <a:rPr kumimoji="1" lang="en-US" altLang="ja-JP" b="1" dirty="0">
                <a:solidFill>
                  <a:schemeClr val="bg1"/>
                </a:solidFill>
              </a:rPr>
              <a:t>	</a:t>
            </a:r>
            <a:r>
              <a:rPr kumimoji="1" lang="ja-JP" altLang="en-US" b="1" dirty="0">
                <a:solidFill>
                  <a:schemeClr val="bg1"/>
                </a:solidFill>
              </a:rPr>
              <a:t>コンボ攻撃</a:t>
            </a:r>
            <a:r>
              <a:rPr kumimoji="1" lang="en-US" altLang="ja-JP" b="1" dirty="0">
                <a:solidFill>
                  <a:schemeClr val="bg1"/>
                </a:solidFill>
              </a:rPr>
              <a:t>(</a:t>
            </a:r>
            <a:r>
              <a:rPr kumimoji="1" lang="ja-JP" altLang="en-US" b="1" dirty="0">
                <a:solidFill>
                  <a:schemeClr val="bg1"/>
                </a:solidFill>
              </a:rPr>
              <a:t>割とある</a:t>
            </a:r>
            <a:r>
              <a:rPr kumimoji="1" lang="en-US" altLang="ja-JP" b="1" dirty="0">
                <a:solidFill>
                  <a:schemeClr val="bg1"/>
                </a:solidFill>
              </a:rPr>
              <a:t>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sz="2800" b="1" u="sng" dirty="0">
                <a:solidFill>
                  <a:schemeClr val="bg1"/>
                </a:solidFill>
              </a:rPr>
              <a:t>ジャンプ</a:t>
            </a:r>
            <a:endParaRPr kumimoji="1" lang="en-US" altLang="ja-JP" sz="2800" b="1" u="sng" dirty="0">
              <a:solidFill>
                <a:schemeClr val="bg1"/>
              </a:solidFill>
            </a:endParaRPr>
          </a:p>
          <a:p>
            <a:pPr lvl="1"/>
            <a:r>
              <a:rPr kumimoji="1" lang="ja-JP" altLang="en-US" sz="2000" dirty="0">
                <a:solidFill>
                  <a:schemeClr val="bg1"/>
                </a:solidFill>
              </a:rPr>
              <a:t>空中コンボ</a:t>
            </a:r>
            <a:r>
              <a:rPr kumimoji="1" lang="en-US" altLang="ja-JP" sz="2000" dirty="0">
                <a:solidFill>
                  <a:schemeClr val="bg1"/>
                </a:solidFill>
              </a:rPr>
              <a:t>(</a:t>
            </a:r>
            <a:r>
              <a:rPr kumimoji="1" lang="ja-JP" altLang="en-US" sz="2000" dirty="0">
                <a:solidFill>
                  <a:schemeClr val="bg1"/>
                </a:solidFill>
              </a:rPr>
              <a:t>割とボリューミー</a:t>
            </a:r>
            <a:r>
              <a:rPr kumimoji="1" lang="en-US" altLang="ja-JP" sz="2000" dirty="0">
                <a:solidFill>
                  <a:schemeClr val="bg1"/>
                </a:solidFill>
              </a:rPr>
              <a:t>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sz="3200" b="1" u="sng" dirty="0">
                <a:solidFill>
                  <a:schemeClr val="bg1"/>
                </a:solidFill>
              </a:rPr>
              <a:t>スキル</a:t>
            </a:r>
            <a:endParaRPr kumimoji="1" lang="en-US" altLang="ja-JP" sz="3200" b="1" u="sng" dirty="0">
              <a:solidFill>
                <a:schemeClr val="bg1"/>
              </a:solidFill>
            </a:endParaRPr>
          </a:p>
          <a:p>
            <a:r>
              <a:rPr kumimoji="1" lang="en-US" altLang="ja-JP" b="1" dirty="0">
                <a:solidFill>
                  <a:schemeClr val="bg1"/>
                </a:solidFill>
              </a:rPr>
              <a:t>	</a:t>
            </a:r>
            <a:r>
              <a:rPr kumimoji="1" lang="ja-JP" altLang="en-US" b="1" dirty="0">
                <a:solidFill>
                  <a:schemeClr val="bg1"/>
                </a:solidFill>
              </a:rPr>
              <a:t>通常攻撃の強化版みたいなの</a:t>
            </a:r>
            <a:r>
              <a:rPr kumimoji="1" lang="en-US" altLang="ja-JP" b="1" dirty="0">
                <a:solidFill>
                  <a:schemeClr val="bg1"/>
                </a:solidFill>
              </a:rPr>
              <a:t>		 </a:t>
            </a:r>
            <a:br>
              <a:rPr kumimoji="1" lang="en-US" altLang="ja-JP" b="1" dirty="0">
                <a:solidFill>
                  <a:schemeClr val="bg1"/>
                </a:solidFill>
              </a:rPr>
            </a:br>
            <a:r>
              <a:rPr kumimoji="1" lang="en-US" altLang="ja-JP" b="1" dirty="0">
                <a:solidFill>
                  <a:schemeClr val="bg1"/>
                </a:solidFill>
              </a:rPr>
              <a:t>	X</a:t>
            </a:r>
            <a:r>
              <a:rPr kumimoji="1" lang="ja-JP" altLang="en-US" b="1" dirty="0">
                <a:solidFill>
                  <a:schemeClr val="bg1"/>
                </a:solidFill>
              </a:rPr>
              <a:t>と</a:t>
            </a:r>
            <a:r>
              <a:rPr kumimoji="1" lang="en-US" altLang="ja-JP" b="1" dirty="0">
                <a:solidFill>
                  <a:schemeClr val="bg1"/>
                </a:solidFill>
              </a:rPr>
              <a:t>Y</a:t>
            </a:r>
            <a:r>
              <a:rPr kumimoji="1" lang="ja-JP" altLang="en-US" b="1" dirty="0">
                <a:solidFill>
                  <a:schemeClr val="bg1"/>
                </a:solidFill>
              </a:rPr>
              <a:t>の</a:t>
            </a:r>
            <a:r>
              <a:rPr kumimoji="1" lang="en-US" altLang="ja-JP" b="1" dirty="0">
                <a:solidFill>
                  <a:schemeClr val="bg1"/>
                </a:solidFill>
              </a:rPr>
              <a:t>2</a:t>
            </a:r>
            <a:r>
              <a:rPr kumimoji="1" lang="ja-JP" altLang="en-US" b="1" dirty="0">
                <a:solidFill>
                  <a:schemeClr val="bg1"/>
                </a:solidFill>
              </a:rPr>
              <a:t>パターン</a:t>
            </a:r>
            <a:br>
              <a:rPr kumimoji="1" lang="en-US" altLang="ja-JP" b="1" dirty="0">
                <a:solidFill>
                  <a:schemeClr val="bg1"/>
                </a:solidFill>
              </a:rPr>
            </a:br>
            <a:r>
              <a:rPr kumimoji="1" lang="en-US" altLang="ja-JP" b="1" dirty="0">
                <a:solidFill>
                  <a:schemeClr val="bg1"/>
                </a:solidFill>
              </a:rPr>
              <a:t>       </a:t>
            </a:r>
            <a:r>
              <a:rPr kumimoji="1" lang="ja-JP" altLang="en-US" b="1" dirty="0">
                <a:solidFill>
                  <a:schemeClr val="bg1"/>
                </a:solidFill>
              </a:rPr>
              <a:t>コンボあり</a:t>
            </a:r>
            <a:r>
              <a:rPr kumimoji="1" lang="en-US" altLang="ja-JP" b="1" dirty="0">
                <a:solidFill>
                  <a:schemeClr val="bg1"/>
                </a:solidFill>
              </a:rPr>
              <a:t>(3</a:t>
            </a:r>
            <a:r>
              <a:rPr kumimoji="1" lang="ja-JP" altLang="en-US" b="1" dirty="0">
                <a:solidFill>
                  <a:schemeClr val="bg1"/>
                </a:solidFill>
              </a:rPr>
              <a:t>コンボまであった</a:t>
            </a:r>
            <a:r>
              <a:rPr kumimoji="1" lang="en-US" altLang="ja-JP" b="1" dirty="0">
                <a:solidFill>
                  <a:schemeClr val="bg1"/>
                </a:solidFill>
              </a:rPr>
              <a:t>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sz="3200" b="1" u="sng" dirty="0">
                <a:solidFill>
                  <a:schemeClr val="bg1"/>
                </a:solidFill>
              </a:rPr>
              <a:t>必殺技</a:t>
            </a:r>
            <a:endParaRPr kumimoji="1" lang="en-US" altLang="ja-JP" sz="3200" b="1" u="sng" dirty="0">
              <a:solidFill>
                <a:schemeClr val="bg1"/>
              </a:solidFill>
            </a:endParaRPr>
          </a:p>
          <a:p>
            <a:r>
              <a:rPr kumimoji="1" lang="en-US" altLang="ja-JP" b="1" dirty="0">
                <a:solidFill>
                  <a:schemeClr val="bg1"/>
                </a:solidFill>
              </a:rPr>
              <a:t>	</a:t>
            </a:r>
            <a:r>
              <a:rPr kumimoji="1" lang="ja-JP" altLang="en-US" b="1" dirty="0">
                <a:solidFill>
                  <a:schemeClr val="bg1"/>
                </a:solidFill>
              </a:rPr>
              <a:t>スキルの強化状態</a:t>
            </a:r>
            <a:r>
              <a:rPr kumimoji="1" lang="en-US" altLang="ja-JP" b="1" dirty="0">
                <a:solidFill>
                  <a:schemeClr val="bg1"/>
                </a:solidFill>
              </a:rPr>
              <a:t>(</a:t>
            </a:r>
            <a:r>
              <a:rPr kumimoji="1" lang="ja-JP" altLang="en-US" b="1" dirty="0">
                <a:solidFill>
                  <a:schemeClr val="bg1"/>
                </a:solidFill>
              </a:rPr>
              <a:t>スーパーアーマー、演出あり</a:t>
            </a:r>
            <a:r>
              <a:rPr kumimoji="1" lang="en-US" altLang="ja-JP" b="1" dirty="0">
                <a:solidFill>
                  <a:schemeClr val="bg1"/>
                </a:solidFill>
              </a:rPr>
              <a:t>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sz="3200" b="1" u="sng" dirty="0">
                <a:solidFill>
                  <a:schemeClr val="bg1"/>
                </a:solidFill>
              </a:rPr>
              <a:t>防衛手段</a:t>
            </a:r>
            <a:endParaRPr kumimoji="1" lang="en-US" altLang="ja-JP" sz="3200" b="1" u="sng" dirty="0">
              <a:solidFill>
                <a:schemeClr val="bg1"/>
              </a:solidFill>
            </a:endParaRPr>
          </a:p>
          <a:p>
            <a:r>
              <a:rPr kumimoji="1" lang="en-US" altLang="ja-JP" b="1" dirty="0">
                <a:solidFill>
                  <a:schemeClr val="bg1"/>
                </a:solidFill>
              </a:rPr>
              <a:t>	</a:t>
            </a:r>
            <a:r>
              <a:rPr kumimoji="1" lang="ja-JP" altLang="en-US" b="1" dirty="0">
                <a:solidFill>
                  <a:schemeClr val="bg1"/>
                </a:solidFill>
              </a:rPr>
              <a:t>回避</a:t>
            </a:r>
            <a:r>
              <a:rPr kumimoji="1" lang="en-US" altLang="ja-JP" b="1" dirty="0">
                <a:solidFill>
                  <a:schemeClr val="bg1"/>
                </a:solidFill>
              </a:rPr>
              <a:t>(</a:t>
            </a:r>
            <a:r>
              <a:rPr kumimoji="1" lang="ja-JP" altLang="en-US" b="1" dirty="0">
                <a:solidFill>
                  <a:schemeClr val="bg1"/>
                </a:solidFill>
              </a:rPr>
              <a:t>ジャスト回避有</a:t>
            </a:r>
            <a:r>
              <a:rPr kumimoji="1" lang="en-US" altLang="ja-JP" b="1" dirty="0">
                <a:solidFill>
                  <a:schemeClr val="bg1"/>
                </a:solidFill>
              </a:rPr>
              <a:t>)</a:t>
            </a:r>
            <a:br>
              <a:rPr kumimoji="1" lang="en-US" altLang="ja-JP" b="1" dirty="0">
                <a:solidFill>
                  <a:schemeClr val="bg1"/>
                </a:solidFill>
              </a:rPr>
            </a:br>
            <a:endParaRPr kumimoji="1" lang="ja-JP" altLang="en-US" b="1" dirty="0">
              <a:solidFill>
                <a:schemeClr val="bg1"/>
              </a:solidFill>
            </a:endParaRP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40C1175C-A907-1BA0-9AD9-A9793A836679}"/>
              </a:ext>
            </a:extLst>
          </p:cNvPr>
          <p:cNvSpPr txBox="1"/>
          <p:nvPr/>
        </p:nvSpPr>
        <p:spPr>
          <a:xfrm>
            <a:off x="6102948" y="3075057"/>
            <a:ext cx="428835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4000" dirty="0">
                <a:solidFill>
                  <a:schemeClr val="bg1"/>
                </a:solidFill>
              </a:rPr>
              <a:t>【</a:t>
            </a:r>
            <a:r>
              <a:rPr kumimoji="1" lang="ja-JP" altLang="en-US" sz="4000" dirty="0">
                <a:solidFill>
                  <a:schemeClr val="bg1"/>
                </a:solidFill>
              </a:rPr>
              <a:t>やりたいこと</a:t>
            </a:r>
            <a:r>
              <a:rPr kumimoji="1" lang="en-US" altLang="ja-JP" sz="4000" dirty="0">
                <a:solidFill>
                  <a:schemeClr val="bg1"/>
                </a:solidFill>
              </a:rPr>
              <a:t>】</a:t>
            </a:r>
            <a:endParaRPr kumimoji="1" lang="ja-JP" altLang="en-US" sz="4000" dirty="0">
              <a:solidFill>
                <a:schemeClr val="bg1"/>
              </a:solidFill>
            </a:endParaRP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40EF7D30-BE42-6764-BA8C-9FB1B40D01E4}"/>
              </a:ext>
            </a:extLst>
          </p:cNvPr>
          <p:cNvSpPr txBox="1"/>
          <p:nvPr/>
        </p:nvSpPr>
        <p:spPr>
          <a:xfrm>
            <a:off x="6617927" y="4076700"/>
            <a:ext cx="3258393" cy="2308324"/>
          </a:xfrm>
          <a:prstGeom prst="rect">
            <a:avLst/>
          </a:prstGeom>
          <a:noFill/>
        </p:spPr>
        <p:txBody>
          <a:bodyPr wrap="none" rtlCol="0" anchor="t">
            <a:spAutoFit/>
          </a:bodyPr>
          <a:lstStyle/>
          <a:p>
            <a:pPr marL="285750" indent="-285750" algn="ctr">
              <a:buFont typeface="Arial" panose="020B0604020202020204" pitchFamily="34" charset="0"/>
              <a:buChar char="•"/>
            </a:pPr>
            <a:r>
              <a:rPr kumimoji="1" lang="ja-JP" altLang="en-US" sz="2400" dirty="0">
                <a:solidFill>
                  <a:schemeClr val="bg1"/>
                </a:solidFill>
              </a:rPr>
              <a:t>カメラのロックオン</a:t>
            </a:r>
            <a:endParaRPr kumimoji="1" lang="en-US" altLang="ja-JP" sz="2400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sz="2400" dirty="0">
                <a:solidFill>
                  <a:schemeClr val="bg1"/>
                </a:solidFill>
              </a:rPr>
              <a:t>敵の攻撃権の管理</a:t>
            </a:r>
            <a:endParaRPr kumimoji="1" lang="en-US" altLang="ja-JP" sz="2400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sz="2400" dirty="0">
                <a:solidFill>
                  <a:schemeClr val="bg1"/>
                </a:solidFill>
              </a:rPr>
              <a:t>カメラ演出</a:t>
            </a:r>
            <a:endParaRPr kumimoji="1" lang="en-US" altLang="ja-JP" sz="2400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sz="2400" dirty="0">
                <a:solidFill>
                  <a:schemeClr val="bg1"/>
                </a:solidFill>
              </a:rPr>
              <a:t>ステートパターン</a:t>
            </a:r>
            <a:endParaRPr kumimoji="1" lang="en-US" altLang="ja-JP" sz="2400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sz="2400" dirty="0">
                <a:solidFill>
                  <a:schemeClr val="bg1"/>
                </a:solidFill>
              </a:rPr>
              <a:t>シェーダー少し</a:t>
            </a:r>
            <a:endParaRPr kumimoji="1" lang="en-US" altLang="ja-JP" sz="2400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kumimoji="1" lang="ja-JP" altLang="en-US" sz="2400" dirty="0">
              <a:solidFill>
                <a:schemeClr val="bg1"/>
              </a:solidFill>
            </a:endParaRP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6678CDA4-BE51-5DB9-673E-24BD27FFEECD}"/>
              </a:ext>
            </a:extLst>
          </p:cNvPr>
          <p:cNvSpPr txBox="1"/>
          <p:nvPr/>
        </p:nvSpPr>
        <p:spPr>
          <a:xfrm>
            <a:off x="5715510" y="6129020"/>
            <a:ext cx="612379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1600" dirty="0">
                <a:solidFill>
                  <a:schemeClr val="bg1"/>
                </a:solidFill>
              </a:rPr>
              <a:t>※</a:t>
            </a:r>
            <a:r>
              <a:rPr kumimoji="1" lang="ja-JP" altLang="en-US" sz="1600" dirty="0">
                <a:solidFill>
                  <a:schemeClr val="bg1"/>
                </a:solidFill>
              </a:rPr>
              <a:t>キャラクター挙動、敵</a:t>
            </a:r>
            <a:r>
              <a:rPr kumimoji="1" lang="en-US" altLang="ja-JP" sz="1600" dirty="0">
                <a:solidFill>
                  <a:schemeClr val="bg1"/>
                </a:solidFill>
              </a:rPr>
              <a:t>AI</a:t>
            </a:r>
            <a:r>
              <a:rPr kumimoji="1" lang="ja-JP" altLang="en-US" sz="1600" dirty="0">
                <a:solidFill>
                  <a:schemeClr val="bg1"/>
                </a:solidFill>
              </a:rPr>
              <a:t>挙動、グラフィック全体的にやりたい</a:t>
            </a:r>
          </a:p>
        </p:txBody>
      </p:sp>
    </p:spTree>
    <p:extLst>
      <p:ext uri="{BB962C8B-B14F-4D97-AF65-F5344CB8AC3E}">
        <p14:creationId xmlns:p14="http://schemas.microsoft.com/office/powerpoint/2010/main" val="33682056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DCBD9E7-E989-D459-6E71-7878FD589D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4162" y="162982"/>
            <a:ext cx="8534400" cy="1507067"/>
          </a:xfrm>
        </p:spPr>
        <p:txBody>
          <a:bodyPr>
            <a:normAutofit/>
          </a:bodyPr>
          <a:lstStyle/>
          <a:p>
            <a:r>
              <a:rPr kumimoji="1" lang="ja-JP" altLang="en-US" sz="4400" b="1" dirty="0">
                <a:solidFill>
                  <a:schemeClr val="bg1"/>
                </a:solidFill>
              </a:rPr>
              <a:t>①ジャストパリィ</a:t>
            </a:r>
          </a:p>
        </p:txBody>
      </p:sp>
      <p:pic>
        <p:nvPicPr>
          <p:cNvPr id="4" name="図 3" descr="ステラーブレイド】ジャストパリィのコツとやり方【ステラブレイド】 - ゲームウィズ">
            <a:extLst>
              <a:ext uri="{FF2B5EF4-FFF2-40B4-BE49-F238E27FC236}">
                <a16:creationId xmlns:a16="http://schemas.microsoft.com/office/drawing/2014/main" id="{D81EA149-4D8F-A632-3F82-53708FA4C3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9915" y="319461"/>
            <a:ext cx="6097244" cy="3201053"/>
          </a:xfrm>
          <a:prstGeom prst="rect">
            <a:avLst/>
          </a:prstGeom>
          <a:solidFill>
            <a:srgbClr val="000000">
              <a:shade val="95000"/>
            </a:srgbClr>
          </a:solidFill>
          <a:ln w="57150" cap="sq">
            <a:solidFill>
              <a:srgbClr val="000000"/>
            </a:solidFill>
            <a:miter lim="800000"/>
          </a:ln>
          <a:effectLst>
            <a:outerShdw blurRad="254000" dist="190500" dir="2700000" sy="90000" algn="bl" rotWithShape="0">
              <a:srgbClr val="000000">
                <a:alpha val="40000"/>
              </a:srgbClr>
            </a:outerShdw>
          </a:effectLst>
        </p:spPr>
      </p:pic>
      <p:pic>
        <p:nvPicPr>
          <p:cNvPr id="6" name="図 5" descr="ステラーブレイド】ジャストパリィのコツとやり方【ステラブレイド】 - ゲームウィズ">
            <a:extLst>
              <a:ext uri="{FF2B5EF4-FFF2-40B4-BE49-F238E27FC236}">
                <a16:creationId xmlns:a16="http://schemas.microsoft.com/office/drawing/2014/main" id="{4BB5973A-D30B-087F-4FA1-3F0B4FF48C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27000" y="3991486"/>
            <a:ext cx="4965700" cy="2606993"/>
          </a:xfrm>
          <a:prstGeom prst="ellipse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F2CD2179-8101-8A92-934E-A20F194D782A}"/>
              </a:ext>
            </a:extLst>
          </p:cNvPr>
          <p:cNvSpPr txBox="1"/>
          <p:nvPr/>
        </p:nvSpPr>
        <p:spPr>
          <a:xfrm>
            <a:off x="405793" y="1565363"/>
            <a:ext cx="25512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>
                <a:solidFill>
                  <a:schemeClr val="bg1"/>
                </a:solidFill>
              </a:rPr>
              <a:t>敵が黄色に光る</a:t>
            </a: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39503A2C-7B1D-42A3-1B44-846B2343C761}"/>
              </a:ext>
            </a:extLst>
          </p:cNvPr>
          <p:cNvSpPr txBox="1"/>
          <p:nvPr/>
        </p:nvSpPr>
        <p:spPr>
          <a:xfrm>
            <a:off x="464840" y="2310772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>
                <a:solidFill>
                  <a:schemeClr val="bg1"/>
                </a:solidFill>
              </a:rPr>
              <a:t>パリィを入力</a:t>
            </a: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48F1D65F-9EDD-57E1-5AA7-949D386C6BDC}"/>
              </a:ext>
            </a:extLst>
          </p:cNvPr>
          <p:cNvSpPr txBox="1"/>
          <p:nvPr/>
        </p:nvSpPr>
        <p:spPr>
          <a:xfrm>
            <a:off x="349424" y="3151129"/>
            <a:ext cx="18004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>
                <a:solidFill>
                  <a:schemeClr val="bg1"/>
                </a:solidFill>
              </a:rPr>
              <a:t>ジャストパリィ</a:t>
            </a:r>
          </a:p>
        </p:txBody>
      </p:sp>
      <p:sp>
        <p:nvSpPr>
          <p:cNvPr id="19" name="矢印: 左カーブ 18">
            <a:extLst>
              <a:ext uri="{FF2B5EF4-FFF2-40B4-BE49-F238E27FC236}">
                <a16:creationId xmlns:a16="http://schemas.microsoft.com/office/drawing/2014/main" id="{1282B3F6-AB38-F830-4672-FAD343A92902}"/>
              </a:ext>
            </a:extLst>
          </p:cNvPr>
          <p:cNvSpPr/>
          <p:nvPr/>
        </p:nvSpPr>
        <p:spPr>
          <a:xfrm>
            <a:off x="2156132" y="2602594"/>
            <a:ext cx="751062" cy="669320"/>
          </a:xfrm>
          <a:prstGeom prst="curvedLeftArrow">
            <a:avLst>
              <a:gd name="adj1" fmla="val 7136"/>
              <a:gd name="adj2" fmla="val 50000"/>
              <a:gd name="adj3" fmla="val 49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20" name="矢印: 左カーブ 19">
            <a:extLst>
              <a:ext uri="{FF2B5EF4-FFF2-40B4-BE49-F238E27FC236}">
                <a16:creationId xmlns:a16="http://schemas.microsoft.com/office/drawing/2014/main" id="{C6C6DFDD-4C43-46BD-2016-7B3B5E98E3A4}"/>
              </a:ext>
            </a:extLst>
          </p:cNvPr>
          <p:cNvSpPr/>
          <p:nvPr/>
        </p:nvSpPr>
        <p:spPr>
          <a:xfrm>
            <a:off x="2156132" y="1762237"/>
            <a:ext cx="751062" cy="669320"/>
          </a:xfrm>
          <a:prstGeom prst="curvedLeftArrow">
            <a:avLst>
              <a:gd name="adj1" fmla="val 7136"/>
              <a:gd name="adj2" fmla="val 50000"/>
              <a:gd name="adj3" fmla="val 49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21" name="矢印: 右 20">
            <a:extLst>
              <a:ext uri="{FF2B5EF4-FFF2-40B4-BE49-F238E27FC236}">
                <a16:creationId xmlns:a16="http://schemas.microsoft.com/office/drawing/2014/main" id="{FBFC7FD1-7C2D-D3A2-F4B1-71B4677DE861}"/>
              </a:ext>
            </a:extLst>
          </p:cNvPr>
          <p:cNvSpPr/>
          <p:nvPr/>
        </p:nvSpPr>
        <p:spPr>
          <a:xfrm rot="19399117">
            <a:off x="3848823" y="3055708"/>
            <a:ext cx="1567032" cy="93345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7148380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DF5B93A-851F-5D57-65E9-1847CFC1E0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9387" y="267757"/>
            <a:ext cx="8534400" cy="1507067"/>
          </a:xfrm>
        </p:spPr>
        <p:txBody>
          <a:bodyPr/>
          <a:lstStyle/>
          <a:p>
            <a:r>
              <a:rPr kumimoji="1" lang="ja-JP" altLang="en-US" dirty="0">
                <a:solidFill>
                  <a:schemeClr val="bg1"/>
                </a:solidFill>
              </a:rPr>
              <a:t>②スキル</a:t>
            </a:r>
          </a:p>
        </p:txBody>
      </p:sp>
      <p:pic>
        <p:nvPicPr>
          <p:cNvPr id="4" name="図 3" descr="『ステラーブレイド』初心者攻略：バトル・アクション編。基礎知識から応用まで、ジャストパリィや回避のコツを伝授【Stellar Blade ...">
            <a:extLst>
              <a:ext uri="{FF2B5EF4-FFF2-40B4-BE49-F238E27FC236}">
                <a16:creationId xmlns:a16="http://schemas.microsoft.com/office/drawing/2014/main" id="{72BF849B-C2DE-FEDA-F797-F116C4A538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65912" y="198520"/>
            <a:ext cx="3971925" cy="2231942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F69EE46A-B858-B00E-CE54-0DE11AB6ADE9}"/>
              </a:ext>
            </a:extLst>
          </p:cNvPr>
          <p:cNvSpPr txBox="1"/>
          <p:nvPr/>
        </p:nvSpPr>
        <p:spPr>
          <a:xfrm>
            <a:off x="342900" y="1621392"/>
            <a:ext cx="27238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>
                <a:solidFill>
                  <a:schemeClr val="bg1"/>
                </a:solidFill>
              </a:rPr>
              <a:t>アーマー付きの全体攻撃</a:t>
            </a:r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BF23055E-D794-4B0F-9AFC-0B20B22DDB4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03999" y="3886200"/>
            <a:ext cx="4095750" cy="2303859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26D08685-CE99-4E72-FF88-1B7F96B45427}"/>
              </a:ext>
            </a:extLst>
          </p:cNvPr>
          <p:cNvSpPr txBox="1"/>
          <p:nvPr/>
        </p:nvSpPr>
        <p:spPr>
          <a:xfrm>
            <a:off x="8298251" y="2845841"/>
            <a:ext cx="707245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4400" dirty="0">
                <a:solidFill>
                  <a:schemeClr val="bg1"/>
                </a:solidFill>
              </a:rPr>
              <a:t>or</a:t>
            </a:r>
            <a:endParaRPr kumimoji="1" lang="ja-JP" altLang="en-US" sz="4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3783607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9E93D46-882E-8288-FE12-68783749CF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7012" y="156632"/>
            <a:ext cx="8534400" cy="1507067"/>
          </a:xfrm>
        </p:spPr>
        <p:txBody>
          <a:bodyPr/>
          <a:lstStyle/>
          <a:p>
            <a:r>
              <a:rPr lang="ja-JP" altLang="en-US" b="1" dirty="0">
                <a:solidFill>
                  <a:schemeClr val="bg1"/>
                </a:solidFill>
              </a:rPr>
              <a:t>③</a:t>
            </a:r>
            <a:r>
              <a:rPr kumimoji="1" lang="ja-JP" altLang="en-US" b="1" dirty="0">
                <a:solidFill>
                  <a:schemeClr val="bg1"/>
                </a:solidFill>
              </a:rPr>
              <a:t>ウルト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F59FE8A1-15FE-275D-22C9-FC7D73B9C0C6}"/>
              </a:ext>
            </a:extLst>
          </p:cNvPr>
          <p:cNvSpPr txBox="1"/>
          <p:nvPr/>
        </p:nvSpPr>
        <p:spPr>
          <a:xfrm>
            <a:off x="568325" y="5733017"/>
            <a:ext cx="64876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https://www.youtube.com/watch?v=CEAfD8ggt4Y&amp;t=347s</a:t>
            </a:r>
            <a:endParaRPr kumimoji="1" lang="ja-JP" altLang="en-US" dirty="0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4E958D0E-1403-E2D4-3D43-D6F3AA23ACDB}"/>
              </a:ext>
            </a:extLst>
          </p:cNvPr>
          <p:cNvSpPr txBox="1"/>
          <p:nvPr/>
        </p:nvSpPr>
        <p:spPr>
          <a:xfrm>
            <a:off x="239018" y="1389600"/>
            <a:ext cx="670572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>
                <a:solidFill>
                  <a:schemeClr val="bg1"/>
                </a:solidFill>
              </a:rPr>
              <a:t>スキル、バーストスキルには</a:t>
            </a:r>
            <a:br>
              <a:rPr kumimoji="1" lang="en-US" altLang="ja-JP" dirty="0">
                <a:solidFill>
                  <a:schemeClr val="bg1"/>
                </a:solidFill>
              </a:rPr>
            </a:br>
            <a:r>
              <a:rPr kumimoji="1" lang="ja-JP" altLang="en-US" dirty="0">
                <a:solidFill>
                  <a:schemeClr val="bg1"/>
                </a:solidFill>
              </a:rPr>
              <a:t>それぞれゲージがあり、</a:t>
            </a:r>
            <a:br>
              <a:rPr kumimoji="1" lang="en-US" altLang="ja-JP" dirty="0">
                <a:solidFill>
                  <a:schemeClr val="bg1"/>
                </a:solidFill>
              </a:rPr>
            </a:br>
            <a:r>
              <a:rPr kumimoji="1" lang="ja-JP" altLang="en-US" dirty="0">
                <a:solidFill>
                  <a:schemeClr val="bg1"/>
                </a:solidFill>
              </a:rPr>
              <a:t>これらは通常攻撃、回避、パリィでたまる</a:t>
            </a:r>
            <a:br>
              <a:rPr kumimoji="1" lang="en-US" altLang="ja-JP" dirty="0">
                <a:solidFill>
                  <a:schemeClr val="bg1"/>
                </a:solidFill>
              </a:rPr>
            </a:br>
            <a:r>
              <a:rPr kumimoji="1" lang="ja-JP" altLang="en-US" dirty="0">
                <a:solidFill>
                  <a:schemeClr val="bg1"/>
                </a:solidFill>
              </a:rPr>
              <a:t>ウルトはシェーダー必須</a:t>
            </a:r>
            <a:endParaRPr kumimoji="1" lang="en-US" altLang="ja-JP" dirty="0">
              <a:solidFill>
                <a:schemeClr val="bg1"/>
              </a:solidFill>
            </a:endParaRPr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D66B2392-37AD-B188-FED8-F1A96E2805E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265" r="17657"/>
          <a:stretch>
            <a:fillRect/>
          </a:stretch>
        </p:blipFill>
        <p:spPr>
          <a:xfrm>
            <a:off x="6944738" y="228601"/>
            <a:ext cx="4812287" cy="2733560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01250493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D22D254F-9F7D-1FC6-634F-7B86CA5228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ja-JP" altLang="en-US" dirty="0"/>
              <a:t>残っていること</a:t>
            </a:r>
            <a:endParaRPr kumimoji="1" lang="en-US" altLang="ja-JP" dirty="0"/>
          </a:p>
          <a:p>
            <a:pPr lvl="1"/>
            <a:r>
              <a:rPr lang="ja-JP" altLang="en-US" dirty="0"/>
              <a:t>具体的な仕様固め</a:t>
            </a:r>
            <a:r>
              <a:rPr lang="en-US" altLang="ja-JP" dirty="0"/>
              <a:t>(</a:t>
            </a:r>
            <a:r>
              <a:rPr lang="ja-JP" altLang="en-US" dirty="0"/>
              <a:t>敵キャラは何を使うか</a:t>
            </a:r>
            <a:r>
              <a:rPr lang="en-US" altLang="ja-JP" dirty="0"/>
              <a:t>)</a:t>
            </a:r>
          </a:p>
          <a:p>
            <a:pPr lvl="1"/>
            <a:r>
              <a:rPr lang="ja-JP" altLang="en-US" dirty="0"/>
              <a:t>ブリンク、リパルスはするのかどうか</a:t>
            </a:r>
            <a:endParaRPr lang="en-US" altLang="ja-JP" dirty="0"/>
          </a:p>
          <a:p>
            <a:pPr lvl="1"/>
            <a:r>
              <a:rPr lang="ja-JP" altLang="en-US" dirty="0"/>
              <a:t>技構成、能力の詳細は上の</a:t>
            </a:r>
            <a:r>
              <a:rPr lang="en-US" altLang="ja-JP" dirty="0"/>
              <a:t>https//</a:t>
            </a:r>
            <a:r>
              <a:rPr lang="ja-JP" altLang="en-US" dirty="0"/>
              <a:t>にある</a:t>
            </a:r>
            <a:br>
              <a:rPr lang="en-US" altLang="ja-JP" dirty="0"/>
            </a:br>
            <a:endParaRPr kumimoji="1" lang="en-US" altLang="ja-JP" dirty="0"/>
          </a:p>
          <a:p>
            <a:pPr marL="0" indent="0">
              <a:buNone/>
            </a:pP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803623992"/>
      </p:ext>
    </p:extLst>
  </p:cSld>
  <p:clrMapOvr>
    <a:masterClrMapping/>
  </p:clrMapOvr>
</p:sld>
</file>

<file path=ppt/theme/theme1.xml><?xml version="1.0" encoding="utf-8"?>
<a:theme xmlns:a="http://schemas.openxmlformats.org/drawingml/2006/main" name="スライス">
  <a:themeElements>
    <a:clrScheme name="スライス">
      <a:dk1>
        <a:sysClr val="windowText" lastClr="000000"/>
      </a:dk1>
      <a:lt1>
        <a:sysClr val="window" lastClr="FFFFFF"/>
      </a:lt1>
      <a:dk2>
        <a:srgbClr val="146194"/>
      </a:dk2>
      <a:lt2>
        <a:srgbClr val="76DBF4"/>
      </a:lt2>
      <a:accent1>
        <a:srgbClr val="052F61"/>
      </a:accent1>
      <a:accent2>
        <a:srgbClr val="A50E82"/>
      </a:accent2>
      <a:accent3>
        <a:srgbClr val="14967C"/>
      </a:accent3>
      <a:accent4>
        <a:srgbClr val="6A9E1F"/>
      </a:accent4>
      <a:accent5>
        <a:srgbClr val="E87D37"/>
      </a:accent5>
      <a:accent6>
        <a:srgbClr val="C62324"/>
      </a:accent6>
      <a:hlink>
        <a:srgbClr val="0D2E46"/>
      </a:hlink>
      <a:folHlink>
        <a:srgbClr val="356A95"/>
      </a:folHlink>
    </a:clrScheme>
    <a:fontScheme name="おすすめ">
      <a:majorFont>
        <a:latin typeface="游ゴシック Medium"/>
        <a:ea typeface="游ゴシック Medium"/>
        <a:cs typeface=""/>
      </a:majorFont>
      <a:minorFont>
        <a:latin typeface="游ゴシック Medium"/>
        <a:ea typeface="游ゴシック Medium"/>
        <a:cs typeface=""/>
      </a:minorFont>
    </a:fontScheme>
    <a:fmtScheme name="スライス">
      <a:fillStyleLst>
        <a:solidFill>
          <a:schemeClr val="phClr"/>
        </a:solidFill>
        <a:gradFill rotWithShape="1">
          <a:gsLst>
            <a:gs pos="0">
              <a:schemeClr val="phClr">
                <a:tint val="62000"/>
                <a:hueMod val="94000"/>
                <a:satMod val="140000"/>
                <a:lumMod val="110000"/>
              </a:schemeClr>
            </a:gs>
            <a:gs pos="100000">
              <a:schemeClr val="phClr">
                <a:tint val="84000"/>
                <a:satMod val="16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hueMod val="94000"/>
                <a:satMod val="130000"/>
                <a:lumMod val="128000"/>
              </a:schemeClr>
            </a:gs>
            <a:gs pos="100000">
              <a:schemeClr val="phClr">
                <a:shade val="94000"/>
                <a:lumMod val="88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tint val="76000"/>
              <a:alpha val="60000"/>
              <a:hueMod val="94000"/>
            </a:schemeClr>
          </a:solidFill>
          <a:prstDash val="solid"/>
        </a:ln>
        <a:ln w="15875" cap="rnd" cmpd="sng" algn="ctr">
          <a:solidFill>
            <a:schemeClr val="phClr">
              <a:hueMod val="94000"/>
            </a:schemeClr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25400" dist="12700" dir="13500000">
              <a:srgbClr val="000000">
                <a:alpha val="45000"/>
              </a:srgbClr>
            </a:innerShdw>
          </a:effectLst>
        </a:effectStyle>
        <a:effectStyle>
          <a:effectLst>
            <a:outerShdw blurRad="50800" dist="38100" dir="5400000" rotWithShape="0">
              <a:srgbClr val="000000">
                <a:alpha val="46000"/>
              </a:srgbClr>
            </a:outerShdw>
          </a:effectLst>
          <a:scene3d>
            <a:camera prst="orthographicFront">
              <a:rot lat="0" lon="0" rev="0"/>
            </a:camera>
            <a:lightRig rig="threePt" dir="t"/>
          </a:scene3d>
          <a:sp3d prstMaterial="plastic">
            <a:bevelT w="25400" h="25400"/>
          </a:sp3d>
        </a:effectStyle>
      </a:effectStyleLst>
      <a:bgFillStyleLst>
        <a:solidFill>
          <a:schemeClr val="phClr"/>
        </a:solidFill>
        <a:gradFill rotWithShape="1">
          <a:gsLst>
            <a:gs pos="10000">
              <a:schemeClr val="phClr">
                <a:tint val="97000"/>
                <a:hueMod val="92000"/>
                <a:satMod val="169000"/>
                <a:lumMod val="164000"/>
              </a:schemeClr>
            </a:gs>
            <a:gs pos="100000">
              <a:schemeClr val="phClr">
                <a:shade val="96000"/>
                <a:satMod val="120000"/>
                <a:lumMod val="90000"/>
              </a:schemeClr>
            </a:gs>
          </a:gsLst>
          <a:lin ang="6120000" scaled="1"/>
        </a:gradFill>
        <a:gradFill rotWithShape="1">
          <a:gsLst>
            <a:gs pos="0">
              <a:schemeClr val="phClr">
                <a:tint val="97000"/>
                <a:hueMod val="92000"/>
                <a:satMod val="169000"/>
                <a:lumMod val="164000"/>
              </a:schemeClr>
            </a:gs>
            <a:gs pos="100000">
              <a:schemeClr val="phClr">
                <a:shade val="96000"/>
                <a:satMod val="120000"/>
                <a:lumMod val="90000"/>
              </a:schemeClr>
            </a:gs>
          </a:gsLst>
          <a:path path="circle">
            <a:fillToRect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ice" id="{0507925B-6AC9-4358-8E18-C330545D08F8}" vid="{13FEC7C6-62A9-40C4-99D2-581AACACAA2F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Slice</Template>
  <TotalTime>569</TotalTime>
  <Words>273</Words>
  <Application>Microsoft Office PowerPoint</Application>
  <PresentationFormat>ワイド画面</PresentationFormat>
  <Paragraphs>47</Paragraphs>
  <Slides>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2" baseType="lpstr">
      <vt:lpstr>游ゴシック Medium</vt:lpstr>
      <vt:lpstr>Arial</vt:lpstr>
      <vt:lpstr>Wingdings 3</vt:lpstr>
      <vt:lpstr>スライス</vt:lpstr>
      <vt:lpstr>PowerPoint プレゼンテーション</vt:lpstr>
      <vt:lpstr>コンセプト</vt:lpstr>
      <vt:lpstr>ゲーム概要</vt:lpstr>
      <vt:lpstr>PowerPoint プレゼンテーション</vt:lpstr>
      <vt:lpstr>①ジャストパリィ</vt:lpstr>
      <vt:lpstr>②スキル</vt:lpstr>
      <vt:lpstr>③ウルト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平尾　泰稀</dc:creator>
  <cp:lastModifiedBy>平尾　泰稀</cp:lastModifiedBy>
  <cp:revision>7</cp:revision>
  <dcterms:created xsi:type="dcterms:W3CDTF">2026-05-20T11:29:17Z</dcterms:created>
  <dcterms:modified xsi:type="dcterms:W3CDTF">2026-05-31T10:28:41Z</dcterms:modified>
</cp:coreProperties>
</file>