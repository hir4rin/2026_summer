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5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-618" y="168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880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8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78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03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268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29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20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66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1794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パノラマ写真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398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682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6968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999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94507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2630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11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835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80C50CD-E178-4744-9B35-B2F624D6C5E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1139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6" r:id="rId1"/>
    <p:sldLayoutId id="2147483827" r:id="rId2"/>
    <p:sldLayoutId id="2147483828" r:id="rId3"/>
    <p:sldLayoutId id="2147483829" r:id="rId4"/>
    <p:sldLayoutId id="2147483830" r:id="rId5"/>
    <p:sldLayoutId id="2147483831" r:id="rId6"/>
    <p:sldLayoutId id="2147483832" r:id="rId7"/>
    <p:sldLayoutId id="2147483833" r:id="rId8"/>
    <p:sldLayoutId id="2147483834" r:id="rId9"/>
    <p:sldLayoutId id="2147483835" r:id="rId10"/>
    <p:sldLayoutId id="2147483836" r:id="rId11"/>
    <p:sldLayoutId id="2147483837" r:id="rId12"/>
    <p:sldLayoutId id="2147483838" r:id="rId13"/>
    <p:sldLayoutId id="2147483839" r:id="rId14"/>
    <p:sldLayoutId id="2147483840" r:id="rId15"/>
    <p:sldLayoutId id="2147483841" r:id="rId16"/>
    <p:sldLayoutId id="2147483842" r:id="rId17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umimoji="1"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2">
                <a:tint val="97000"/>
                <a:hueMod val="92000"/>
                <a:satMod val="169000"/>
                <a:lumMod val="164000"/>
              </a:schemeClr>
            </a:gs>
            <a:gs pos="100000">
              <a:schemeClr val="bg2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01E688E0-C729-4E49-9E7B-4697607DB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9FD72C-2790-48C4-3831-85C6479A964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alphaModFix amt="19000"/>
          </a:blip>
          <a:srcRect/>
          <a:stretch>
            <a:fillRect/>
          </a:stretch>
        </p:blipFill>
        <p:spPr>
          <a:xfrm>
            <a:off x="12180" y="10"/>
            <a:ext cx="12191980" cy="6857990"/>
          </a:xfrm>
          <a:prstGeom prst="rect">
            <a:avLst/>
          </a:prstGeom>
        </p:spPr>
      </p:pic>
      <p:grpSp>
        <p:nvGrpSpPr>
          <p:cNvPr id="7" name="Group 10">
            <a:extLst>
              <a:ext uri="{FF2B5EF4-FFF2-40B4-BE49-F238E27FC236}">
                <a16:creationId xmlns:a16="http://schemas.microsoft.com/office/drawing/2014/main" id="{AAD89D74-79DD-4BE2-AA8C-8672382F2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8170" y="9144"/>
            <a:ext cx="6080656" cy="6163733"/>
            <a:chOff x="6108170" y="8467"/>
            <a:chExt cx="6080656" cy="6163733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EA020D6D-57F1-4846-9467-5E54F5B88A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8228012" y="8467"/>
              <a:ext cx="3810000" cy="3810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BA67610-3DFA-4B04-A0F3-FFBF2C97E8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6108170" y="91545"/>
              <a:ext cx="6080655" cy="608065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96F9FAA7-B1F5-4E7B-BEC6-00158A5F0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235825" y="228600"/>
              <a:ext cx="4953000" cy="495300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4174CF9-D8AD-4A5C-BF99-57B43506DA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335837" y="32278"/>
              <a:ext cx="4852989" cy="485298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B76B22A1-F450-4EAF-A363-7222D3D52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845426" y="609601"/>
              <a:ext cx="4343399" cy="4343399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1E582F0-B62A-0A3D-1733-5AD4508726F0}"/>
              </a:ext>
            </a:extLst>
          </p:cNvPr>
          <p:cNvSpPr txBox="1"/>
          <p:nvPr/>
        </p:nvSpPr>
        <p:spPr>
          <a:xfrm>
            <a:off x="2315812" y="472649"/>
            <a:ext cx="79432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9600" b="1" spc="3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StellerSteller</a:t>
            </a:r>
            <a:endParaRPr kumimoji="1" lang="ja-JP" altLang="en-US" sz="9600" b="1" spc="3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BBD399E-97D9-B6AB-D335-687CAB95C9BA}"/>
              </a:ext>
            </a:extLst>
          </p:cNvPr>
          <p:cNvSpPr txBox="1"/>
          <p:nvPr/>
        </p:nvSpPr>
        <p:spPr>
          <a:xfrm>
            <a:off x="7335837" y="5223505"/>
            <a:ext cx="56637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>
                <a:solidFill>
                  <a:schemeClr val="bg1"/>
                </a:solidFill>
              </a:rPr>
              <a:t>ジャンル：</a:t>
            </a:r>
            <a:r>
              <a:rPr kumimoji="1" lang="en-US" altLang="ja-JP" sz="2400" dirty="0">
                <a:solidFill>
                  <a:schemeClr val="bg1"/>
                </a:solidFill>
              </a:rPr>
              <a:t>3D</a:t>
            </a:r>
            <a:r>
              <a:rPr kumimoji="1" lang="ja-JP" altLang="en-US" sz="2400" dirty="0">
                <a:solidFill>
                  <a:schemeClr val="bg1"/>
                </a:solidFill>
              </a:rPr>
              <a:t>アクション</a:t>
            </a:r>
            <a:br>
              <a:rPr kumimoji="1" lang="en-US" altLang="ja-JP" sz="2400" dirty="0">
                <a:solidFill>
                  <a:schemeClr val="bg1"/>
                </a:solidFill>
              </a:rPr>
            </a:br>
            <a:r>
              <a:rPr kumimoji="1" lang="ja-JP" altLang="en-US" sz="2400" dirty="0">
                <a:solidFill>
                  <a:schemeClr val="bg1"/>
                </a:solidFill>
              </a:rPr>
              <a:t>プレイ人数：</a:t>
            </a:r>
            <a:r>
              <a:rPr kumimoji="1" lang="en-US" altLang="ja-JP" sz="2400" dirty="0">
                <a:solidFill>
                  <a:schemeClr val="bg1"/>
                </a:solidFill>
              </a:rPr>
              <a:t>1</a:t>
            </a:r>
            <a:r>
              <a:rPr kumimoji="1" lang="ja-JP" altLang="en-US" sz="2400" dirty="0">
                <a:solidFill>
                  <a:schemeClr val="bg1"/>
                </a:solidFill>
              </a:rPr>
              <a:t>人プレイ</a:t>
            </a:r>
            <a:br>
              <a:rPr kumimoji="1" lang="en-US" altLang="ja-JP" sz="2400" dirty="0">
                <a:solidFill>
                  <a:schemeClr val="bg1"/>
                </a:solidFill>
              </a:rPr>
            </a:br>
            <a:r>
              <a:rPr kumimoji="1" lang="ja-JP" altLang="en-US" sz="2400" dirty="0">
                <a:solidFill>
                  <a:schemeClr val="bg1"/>
                </a:solidFill>
              </a:rPr>
              <a:t>プラットフォーム：</a:t>
            </a:r>
            <a:r>
              <a:rPr kumimoji="1" lang="en-US" altLang="ja-JP" sz="2400" dirty="0">
                <a:solidFill>
                  <a:schemeClr val="bg1"/>
                </a:solidFill>
              </a:rPr>
              <a:t>Windows</a:t>
            </a:r>
            <a:endParaRPr kumimoji="1" lang="ja-JP" altLang="en-US" sz="2400" dirty="0">
              <a:solidFill>
                <a:schemeClr val="bg1"/>
              </a:solidFill>
            </a:endParaRPr>
          </a:p>
        </p:txBody>
      </p:sp>
      <p:pic>
        <p:nvPicPr>
          <p:cNvPr id="3" name="図 2" descr="Stellar Blade』(Project EVE) ストーリートレーラー | PS5™ - YouTube">
            <a:extLst>
              <a:ext uri="{FF2B5EF4-FFF2-40B4-BE49-F238E27FC236}">
                <a16:creationId xmlns:a16="http://schemas.microsoft.com/office/drawing/2014/main" id="{CD994FA2-C94A-1FB4-3A78-40248DC9E33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4911" y="1894985"/>
            <a:ext cx="6096000" cy="4572000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bg1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012760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Stellar Blade』Steam版がいよいよリリース！PC向けに最適化されたグラフィックでイヴの物語を楽しもう―採れたて！本日のSteam注目ゲーム6選【2025年6月12日】  | Game*Spark - 国内・海外ゲーム情報サイト">
            <a:extLst>
              <a:ext uri="{FF2B5EF4-FFF2-40B4-BE49-F238E27FC236}">
                <a16:creationId xmlns:a16="http://schemas.microsoft.com/office/drawing/2014/main" id="{8F1E7E7B-4C0D-3C0F-CAAF-0D6D2086876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9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0513FD5-E2BE-FCEC-3554-44D60E8C1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3454" y="254697"/>
            <a:ext cx="8534400" cy="1507067"/>
          </a:xfrm>
        </p:spPr>
        <p:txBody>
          <a:bodyPr>
            <a:normAutofit/>
          </a:bodyPr>
          <a:lstStyle/>
          <a:p>
            <a:pPr algn="ctr"/>
            <a:r>
              <a:rPr lang="ja-JP" altLang="en-US" sz="8800" dirty="0">
                <a:solidFill>
                  <a:schemeClr val="bg1"/>
                </a:solidFill>
                <a:highlight>
                  <a:srgbClr val="FFFF00"/>
                </a:highlight>
              </a:rPr>
              <a:t>コンセプト</a:t>
            </a:r>
            <a:endParaRPr kumimoji="1" lang="ja-JP" altLang="en-US" sz="8800" dirty="0">
              <a:solidFill>
                <a:schemeClr val="bg1"/>
              </a:solidFill>
              <a:highlight>
                <a:srgbClr val="FFFF00"/>
              </a:highlight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0D041DB-0389-1C20-A77E-F4A383363487}"/>
              </a:ext>
            </a:extLst>
          </p:cNvPr>
          <p:cNvSpPr txBox="1"/>
          <p:nvPr/>
        </p:nvSpPr>
        <p:spPr>
          <a:xfrm>
            <a:off x="2338774" y="4662604"/>
            <a:ext cx="78790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  <a:highlight>
                  <a:srgbClr val="FFFF00"/>
                </a:highlight>
              </a:rPr>
              <a:t>爽快なスタイリッシュアクション</a:t>
            </a:r>
          </a:p>
        </p:txBody>
      </p:sp>
    </p:spTree>
    <p:extLst>
      <p:ext uri="{BB962C8B-B14F-4D97-AF65-F5344CB8AC3E}">
        <p14:creationId xmlns:p14="http://schemas.microsoft.com/office/powerpoint/2010/main" val="256423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C17F12-DDD3-917F-6821-D17D42689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84" y="137401"/>
            <a:ext cx="8534400" cy="1507067"/>
          </a:xfrm>
        </p:spPr>
        <p:txBody>
          <a:bodyPr>
            <a:normAutofit/>
          </a:bodyPr>
          <a:lstStyle/>
          <a:p>
            <a:r>
              <a:rPr kumimoji="1" lang="ja-JP" altLang="en-US" sz="5400" dirty="0">
                <a:solidFill>
                  <a:schemeClr val="bg1"/>
                </a:solidFill>
              </a:rPr>
              <a:t>ゲーム概要</a:t>
            </a:r>
          </a:p>
        </p:txBody>
      </p:sp>
      <p:pic>
        <p:nvPicPr>
          <p:cNvPr id="4" name="図 3" descr="Stellar Blade】崩壊した地球を駆ける艶やか戦士 - 攻略とレビュー | KeepGamingOn">
            <a:extLst>
              <a:ext uri="{FF2B5EF4-FFF2-40B4-BE49-F238E27FC236}">
                <a16:creationId xmlns:a16="http://schemas.microsoft.com/office/drawing/2014/main" id="{CEF96641-5895-A4F4-B364-3EE8F369DC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942" y="137401"/>
            <a:ext cx="4885050" cy="27478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8C85823-8206-A90C-0C97-F12782AB09C0}"/>
              </a:ext>
            </a:extLst>
          </p:cNvPr>
          <p:cNvGrpSpPr/>
          <p:nvPr/>
        </p:nvGrpSpPr>
        <p:grpSpPr>
          <a:xfrm>
            <a:off x="1186890" y="1731319"/>
            <a:ext cx="1809750" cy="5001798"/>
            <a:chOff x="970990" y="1362770"/>
            <a:chExt cx="1809750" cy="5001798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D40F036-D24B-EA1D-751F-EC5246827258}"/>
                </a:ext>
              </a:extLst>
            </p:cNvPr>
            <p:cNvSpPr/>
            <p:nvPr/>
          </p:nvSpPr>
          <p:spPr>
            <a:xfrm>
              <a:off x="1559859" y="1460318"/>
              <a:ext cx="632012" cy="490425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A456704-3739-6A12-3F7D-4E13C7DCE384}"/>
                </a:ext>
              </a:extLst>
            </p:cNvPr>
            <p:cNvSpPr/>
            <p:nvPr/>
          </p:nvSpPr>
          <p:spPr>
            <a:xfrm>
              <a:off x="970990" y="4572000"/>
              <a:ext cx="1809750" cy="10668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" name="楕円 7">
              <a:extLst>
                <a:ext uri="{FF2B5EF4-FFF2-40B4-BE49-F238E27FC236}">
                  <a16:creationId xmlns:a16="http://schemas.microsoft.com/office/drawing/2014/main" id="{C6FEC104-E853-34B9-BCBC-F946CBC3E9E5}"/>
                </a:ext>
              </a:extLst>
            </p:cNvPr>
            <p:cNvSpPr/>
            <p:nvPr/>
          </p:nvSpPr>
          <p:spPr>
            <a:xfrm>
              <a:off x="970990" y="2967385"/>
              <a:ext cx="1809750" cy="10668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EFC14CCF-101C-2434-237E-06FFA3587016}"/>
                </a:ext>
              </a:extLst>
            </p:cNvPr>
            <p:cNvSpPr/>
            <p:nvPr/>
          </p:nvSpPr>
          <p:spPr>
            <a:xfrm>
              <a:off x="970990" y="1362770"/>
              <a:ext cx="1809750" cy="1066800"/>
            </a:xfrm>
            <a:prstGeom prst="ellips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F2448D4-12CE-7678-49AC-2BFD29BABFBC}"/>
              </a:ext>
            </a:extLst>
          </p:cNvPr>
          <p:cNvSpPr txBox="1"/>
          <p:nvPr/>
        </p:nvSpPr>
        <p:spPr>
          <a:xfrm>
            <a:off x="1295400" y="141076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</a:rPr>
              <a:t>【</a:t>
            </a:r>
            <a:r>
              <a:rPr kumimoji="1" lang="ja-JP" altLang="en-US" dirty="0">
                <a:solidFill>
                  <a:schemeClr val="bg1"/>
                </a:solidFill>
              </a:rPr>
              <a:t>ステージ図</a:t>
            </a:r>
            <a:r>
              <a:rPr kumimoji="1" lang="en-US" altLang="ja-JP" dirty="0">
                <a:solidFill>
                  <a:schemeClr val="bg1"/>
                </a:solidFill>
              </a:rPr>
              <a:t>】</a:t>
            </a:r>
            <a:endParaRPr kumimoji="1" lang="ja-JP" altLang="en-US" dirty="0">
              <a:solidFill>
                <a:schemeClr val="bg1"/>
              </a:solidFill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5959898-2E19-2039-3D78-1C2EF01B22C7}"/>
              </a:ext>
            </a:extLst>
          </p:cNvPr>
          <p:cNvSpPr txBox="1"/>
          <p:nvPr/>
        </p:nvSpPr>
        <p:spPr>
          <a:xfrm>
            <a:off x="3818724" y="1828867"/>
            <a:ext cx="2109873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>
                <a:solidFill>
                  <a:schemeClr val="bg1"/>
                </a:solidFill>
              </a:rPr>
              <a:t>1</a:t>
            </a:r>
            <a:r>
              <a:rPr kumimoji="1" lang="ja-JP" altLang="en-US" sz="2800" dirty="0">
                <a:solidFill>
                  <a:schemeClr val="bg1"/>
                </a:solidFill>
              </a:rPr>
              <a:t>本道</a:t>
            </a:r>
            <a:endParaRPr kumimoji="1" lang="en-US" altLang="ja-JP" sz="2800" dirty="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2800" dirty="0">
                <a:solidFill>
                  <a:schemeClr val="bg1"/>
                </a:solidFill>
              </a:rPr>
              <a:t>3Wave</a:t>
            </a:r>
            <a:r>
              <a:rPr kumimoji="1" lang="ja-JP" altLang="en-US" sz="2800" dirty="0">
                <a:solidFill>
                  <a:schemeClr val="bg1"/>
                </a:solidFill>
              </a:rPr>
              <a:t>制</a:t>
            </a:r>
            <a:br>
              <a:rPr kumimoji="1" lang="en-US" altLang="ja-JP" sz="2800" dirty="0">
                <a:solidFill>
                  <a:schemeClr val="bg1"/>
                </a:solidFill>
              </a:rPr>
            </a:br>
            <a:endParaRPr kumimoji="1" lang="ja-JP" altLang="en-US" sz="2800" dirty="0">
              <a:solidFill>
                <a:schemeClr val="bg1"/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6DC4E86-D9DE-B4FC-429D-0525C1C8FB00}"/>
              </a:ext>
            </a:extLst>
          </p:cNvPr>
          <p:cNvSpPr txBox="1"/>
          <p:nvPr/>
        </p:nvSpPr>
        <p:spPr>
          <a:xfrm>
            <a:off x="3985765" y="3644139"/>
            <a:ext cx="3199915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雑魚敵：</a:t>
            </a:r>
            <a:r>
              <a:rPr kumimoji="1" lang="en-US" altLang="ja-JP" dirty="0">
                <a:solidFill>
                  <a:schemeClr val="bg1"/>
                </a:solidFill>
              </a:rPr>
              <a:t>2-3</a:t>
            </a:r>
            <a:r>
              <a:rPr kumimoji="1" lang="ja-JP" altLang="en-US" dirty="0">
                <a:solidFill>
                  <a:schemeClr val="bg1"/>
                </a:solidFill>
              </a:rPr>
              <a:t>種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中ボス：</a:t>
            </a: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r>
              <a:rPr kumimoji="1" lang="ja-JP" altLang="en-US" dirty="0">
                <a:solidFill>
                  <a:schemeClr val="bg1"/>
                </a:solidFill>
              </a:rPr>
              <a:t>種</a:t>
            </a:r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ボス</a:t>
            </a:r>
            <a:r>
              <a:rPr kumimoji="1" lang="en-US" altLang="ja-JP" dirty="0">
                <a:solidFill>
                  <a:schemeClr val="bg1"/>
                </a:solidFill>
              </a:rPr>
              <a:t>1</a:t>
            </a:r>
            <a:r>
              <a:rPr kumimoji="1" lang="ja-JP" altLang="en-US" dirty="0">
                <a:solidFill>
                  <a:schemeClr val="bg1"/>
                </a:solidFill>
              </a:rPr>
              <a:t>種</a:t>
            </a:r>
            <a:endParaRPr kumimoji="1" lang="en-US" altLang="ja-JP" dirty="0">
              <a:solidFill>
                <a:schemeClr val="bg1"/>
              </a:solidFill>
            </a:endParaRPr>
          </a:p>
          <a:p>
            <a:endParaRPr kumimoji="1" lang="en-US" altLang="ja-JP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dirty="0">
                <a:solidFill>
                  <a:schemeClr val="bg1"/>
                </a:solidFill>
              </a:rPr>
              <a:t>ステージ数：</a:t>
            </a:r>
            <a:r>
              <a:rPr kumimoji="1" lang="en-US" altLang="ja-JP" dirty="0">
                <a:solidFill>
                  <a:schemeClr val="bg1"/>
                </a:solidFill>
              </a:rPr>
              <a:t>1~2</a:t>
            </a:r>
            <a:r>
              <a:rPr kumimoji="1" lang="ja-JP" altLang="en-US" dirty="0">
                <a:solidFill>
                  <a:schemeClr val="bg1"/>
                </a:solidFill>
              </a:rPr>
              <a:t>ステージ</a:t>
            </a:r>
            <a:br>
              <a:rPr kumimoji="1" lang="en-US" altLang="ja-JP" dirty="0">
                <a:solidFill>
                  <a:schemeClr val="bg1"/>
                </a:solidFill>
              </a:rPr>
            </a:br>
            <a:endParaRPr kumimoji="1" lang="ja-JP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608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6FE4787-4B4C-A93C-7FC6-C12F63A3725C}"/>
              </a:ext>
            </a:extLst>
          </p:cNvPr>
          <p:cNvSpPr txBox="1"/>
          <p:nvPr/>
        </p:nvSpPr>
        <p:spPr>
          <a:xfrm>
            <a:off x="352698" y="483326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000" b="1" dirty="0">
                <a:solidFill>
                  <a:schemeClr val="bg1"/>
                </a:solidFill>
              </a:rPr>
              <a:t>プレイヤーの操作</a:t>
            </a:r>
          </a:p>
        </p:txBody>
      </p:sp>
      <p:pic>
        <p:nvPicPr>
          <p:cNvPr id="6" name="図 5" descr="Stellar Blade: A beginner's guide to combat - Guides &amp; Editorial |  PlayStation (UK)">
            <a:extLst>
              <a:ext uri="{FF2B5EF4-FFF2-40B4-BE49-F238E27FC236}">
                <a16:creationId xmlns:a16="http://schemas.microsoft.com/office/drawing/2014/main" id="{83F997E7-7B8A-CAC6-8FFD-3DCE324A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458" y="146184"/>
            <a:ext cx="4947844" cy="2783162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E0080DA-B731-B659-C762-4C63C5FA9194}"/>
              </a:ext>
            </a:extLst>
          </p:cNvPr>
          <p:cNvSpPr txBox="1"/>
          <p:nvPr/>
        </p:nvSpPr>
        <p:spPr>
          <a:xfrm>
            <a:off x="708144" y="1191212"/>
            <a:ext cx="3289683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800" b="1" u="sng" dirty="0">
                <a:solidFill>
                  <a:schemeClr val="bg1"/>
                </a:solidFill>
              </a:rPr>
              <a:t>通常攻撃</a:t>
            </a:r>
            <a:endParaRPr kumimoji="1" lang="en-US" altLang="ja-JP" sz="28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弱攻撃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強攻撃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コンボ攻撃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ダッシュ攻撃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確定反撃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3200" b="1" u="sng" dirty="0">
                <a:solidFill>
                  <a:schemeClr val="bg1"/>
                </a:solidFill>
              </a:rPr>
              <a:t>スキル</a:t>
            </a:r>
            <a:endParaRPr kumimoji="1" lang="en-US" altLang="ja-JP" sz="32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近距離</a:t>
            </a:r>
            <a:r>
              <a:rPr kumimoji="1" lang="en-US" altLang="ja-JP" b="1" dirty="0">
                <a:solidFill>
                  <a:schemeClr val="bg1"/>
                </a:solidFill>
              </a:rPr>
              <a:t>1</a:t>
            </a:r>
            <a:r>
              <a:rPr kumimoji="1" lang="ja-JP" altLang="en-US" b="1" dirty="0">
                <a:solidFill>
                  <a:schemeClr val="bg1"/>
                </a:solidFill>
              </a:rPr>
              <a:t>種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3200" b="1" u="sng" dirty="0">
                <a:solidFill>
                  <a:schemeClr val="bg1"/>
                </a:solidFill>
              </a:rPr>
              <a:t>バーストスキル</a:t>
            </a:r>
            <a:endParaRPr kumimoji="1" lang="en-US" altLang="ja-JP" sz="32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かっこいいいの</a:t>
            </a:r>
            <a:r>
              <a:rPr kumimoji="1" lang="en-US" altLang="ja-JP" b="1" dirty="0">
                <a:solidFill>
                  <a:schemeClr val="bg1"/>
                </a:solidFill>
              </a:rPr>
              <a:t>1</a:t>
            </a:r>
            <a:r>
              <a:rPr kumimoji="1" lang="ja-JP" altLang="en-US" b="1" dirty="0">
                <a:solidFill>
                  <a:schemeClr val="bg1"/>
                </a:solidFill>
              </a:rPr>
              <a:t>つ</a:t>
            </a:r>
            <a:endParaRPr kumimoji="1" lang="en-US" altLang="ja-JP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3200" b="1" u="sng" dirty="0">
                <a:solidFill>
                  <a:schemeClr val="bg1"/>
                </a:solidFill>
              </a:rPr>
              <a:t>防衛手段</a:t>
            </a:r>
            <a:endParaRPr kumimoji="1" lang="en-US" altLang="ja-JP" sz="3200" b="1" u="sng" dirty="0">
              <a:solidFill>
                <a:schemeClr val="bg1"/>
              </a:solidFill>
            </a:endParaRP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回避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ジャスト回避有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</a:p>
          <a:p>
            <a:r>
              <a:rPr kumimoji="1" lang="en-US" altLang="ja-JP" b="1" dirty="0">
                <a:solidFill>
                  <a:schemeClr val="bg1"/>
                </a:solidFill>
              </a:rPr>
              <a:t>	</a:t>
            </a:r>
            <a:r>
              <a:rPr kumimoji="1" lang="ja-JP" altLang="en-US" b="1" dirty="0">
                <a:solidFill>
                  <a:schemeClr val="bg1"/>
                </a:solidFill>
              </a:rPr>
              <a:t>パリィ</a:t>
            </a:r>
            <a:r>
              <a:rPr kumimoji="1" lang="en-US" altLang="ja-JP" b="1" dirty="0">
                <a:solidFill>
                  <a:schemeClr val="bg1"/>
                </a:solidFill>
              </a:rPr>
              <a:t>(</a:t>
            </a:r>
            <a:r>
              <a:rPr kumimoji="1" lang="ja-JP" altLang="en-US" b="1" dirty="0">
                <a:solidFill>
                  <a:schemeClr val="bg1"/>
                </a:solidFill>
              </a:rPr>
              <a:t>ジャストパリィ有</a:t>
            </a:r>
            <a:r>
              <a:rPr kumimoji="1" lang="en-US" altLang="ja-JP" b="1" dirty="0">
                <a:solidFill>
                  <a:schemeClr val="bg1"/>
                </a:solidFill>
              </a:rPr>
              <a:t>)</a:t>
            </a:r>
            <a:br>
              <a:rPr kumimoji="1" lang="en-US" altLang="ja-JP" b="1" dirty="0">
                <a:solidFill>
                  <a:schemeClr val="bg1"/>
                </a:solidFill>
              </a:rPr>
            </a:br>
            <a:endParaRPr kumimoji="1" lang="ja-JP" altLang="en-US" b="1" dirty="0">
              <a:solidFill>
                <a:schemeClr val="bg1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C1175C-A907-1BA0-9AD9-A9793A836679}"/>
              </a:ext>
            </a:extLst>
          </p:cNvPr>
          <p:cNvSpPr txBox="1"/>
          <p:nvPr/>
        </p:nvSpPr>
        <p:spPr>
          <a:xfrm>
            <a:off x="6102948" y="3075057"/>
            <a:ext cx="42883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dirty="0">
                <a:solidFill>
                  <a:schemeClr val="bg1"/>
                </a:solidFill>
              </a:rPr>
              <a:t>【</a:t>
            </a:r>
            <a:r>
              <a:rPr kumimoji="1" lang="ja-JP" altLang="en-US" sz="4000" dirty="0">
                <a:solidFill>
                  <a:schemeClr val="bg1"/>
                </a:solidFill>
              </a:rPr>
              <a:t>やりたいこと</a:t>
            </a:r>
            <a:r>
              <a:rPr kumimoji="1" lang="en-US" altLang="ja-JP" sz="4000" dirty="0">
                <a:solidFill>
                  <a:schemeClr val="bg1"/>
                </a:solidFill>
              </a:rPr>
              <a:t>】</a:t>
            </a:r>
            <a:endParaRPr kumimoji="1" lang="ja-JP" altLang="en-US" sz="4000" dirty="0">
              <a:solidFill>
                <a:schemeClr val="bg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0EF7D30-BE42-6764-BA8C-9FB1B40D01E4}"/>
              </a:ext>
            </a:extLst>
          </p:cNvPr>
          <p:cNvSpPr txBox="1"/>
          <p:nvPr/>
        </p:nvSpPr>
        <p:spPr>
          <a:xfrm>
            <a:off x="6617927" y="4076700"/>
            <a:ext cx="3258393" cy="2308324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カメラのロックオン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敵の攻撃権の管理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カメラ演出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ステートパターン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ja-JP" altLang="en-US" sz="2400" dirty="0">
                <a:solidFill>
                  <a:schemeClr val="bg1"/>
                </a:solidFill>
              </a:rPr>
              <a:t>シェーダー少し</a:t>
            </a:r>
            <a:endParaRPr kumimoji="1" lang="en-US" altLang="ja-JP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ja-JP" altLang="en-US" sz="2400" dirty="0">
              <a:solidFill>
                <a:schemeClr val="bg1"/>
              </a:solidFill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6678CDA4-BE51-5DB9-673E-24BD27FFEECD}"/>
              </a:ext>
            </a:extLst>
          </p:cNvPr>
          <p:cNvSpPr txBox="1"/>
          <p:nvPr/>
        </p:nvSpPr>
        <p:spPr>
          <a:xfrm>
            <a:off x="5715510" y="6129020"/>
            <a:ext cx="61237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</a:rPr>
              <a:t>※</a:t>
            </a:r>
            <a:r>
              <a:rPr kumimoji="1" lang="ja-JP" altLang="en-US" sz="1600" dirty="0">
                <a:solidFill>
                  <a:schemeClr val="bg1"/>
                </a:solidFill>
              </a:rPr>
              <a:t>キャラクター挙動、敵</a:t>
            </a:r>
            <a:r>
              <a:rPr kumimoji="1" lang="en-US" altLang="ja-JP" sz="1600" dirty="0">
                <a:solidFill>
                  <a:schemeClr val="bg1"/>
                </a:solidFill>
              </a:rPr>
              <a:t>AI</a:t>
            </a:r>
            <a:r>
              <a:rPr kumimoji="1" lang="ja-JP" altLang="en-US" sz="1600" dirty="0">
                <a:solidFill>
                  <a:schemeClr val="bg1"/>
                </a:solidFill>
              </a:rPr>
              <a:t>挙動、グラフィック全体的にやりたい</a:t>
            </a:r>
          </a:p>
        </p:txBody>
      </p:sp>
    </p:spTree>
    <p:extLst>
      <p:ext uri="{BB962C8B-B14F-4D97-AF65-F5344CB8AC3E}">
        <p14:creationId xmlns:p14="http://schemas.microsoft.com/office/powerpoint/2010/main" val="3368205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DCBD9E7-E989-D459-6E71-7878FD589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162" y="162982"/>
            <a:ext cx="8534400" cy="1507067"/>
          </a:xfrm>
        </p:spPr>
        <p:txBody>
          <a:bodyPr>
            <a:normAutofit/>
          </a:bodyPr>
          <a:lstStyle/>
          <a:p>
            <a:r>
              <a:rPr kumimoji="1" lang="ja-JP" altLang="en-US" sz="4400" b="1" dirty="0">
                <a:solidFill>
                  <a:schemeClr val="bg1"/>
                </a:solidFill>
              </a:rPr>
              <a:t>①ジャストパリィ</a:t>
            </a:r>
          </a:p>
        </p:txBody>
      </p:sp>
      <p:pic>
        <p:nvPicPr>
          <p:cNvPr id="4" name="図 3" descr="ステラーブレイド】ジャストパリィのコツとやり方【ステラブレイド】 - ゲームウィズ">
            <a:extLst>
              <a:ext uri="{FF2B5EF4-FFF2-40B4-BE49-F238E27FC236}">
                <a16:creationId xmlns:a16="http://schemas.microsoft.com/office/drawing/2014/main" id="{D81EA149-4D8F-A632-3F82-53708FA4C3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9915" y="319461"/>
            <a:ext cx="6097244" cy="3201053"/>
          </a:xfrm>
          <a:prstGeom prst="rect">
            <a:avLst/>
          </a:prstGeom>
          <a:solidFill>
            <a:srgbClr val="000000">
              <a:shade val="95000"/>
            </a:srgbClr>
          </a:solidFill>
          <a:ln w="5715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6" name="図 5" descr="ステラーブレイド】ジャストパリィのコツとやり方【ステラブレイド】 - ゲームウィズ">
            <a:extLst>
              <a:ext uri="{FF2B5EF4-FFF2-40B4-BE49-F238E27FC236}">
                <a16:creationId xmlns:a16="http://schemas.microsoft.com/office/drawing/2014/main" id="{4BB5973A-D30B-087F-4FA1-3F0B4FF48C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0" y="3991486"/>
            <a:ext cx="4965700" cy="260699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2CD2179-8101-8A92-934E-A20F194D782A}"/>
              </a:ext>
            </a:extLst>
          </p:cNvPr>
          <p:cNvSpPr txBox="1"/>
          <p:nvPr/>
        </p:nvSpPr>
        <p:spPr>
          <a:xfrm>
            <a:off x="405793" y="1565363"/>
            <a:ext cx="25512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敵が黄色に光る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9503A2C-7B1D-42A3-1B44-846B2343C761}"/>
              </a:ext>
            </a:extLst>
          </p:cNvPr>
          <p:cNvSpPr txBox="1"/>
          <p:nvPr/>
        </p:nvSpPr>
        <p:spPr>
          <a:xfrm>
            <a:off x="464840" y="2310772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パリィを入力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8F1D65F-9EDD-57E1-5AA7-949D386C6BDC}"/>
              </a:ext>
            </a:extLst>
          </p:cNvPr>
          <p:cNvSpPr txBox="1"/>
          <p:nvPr/>
        </p:nvSpPr>
        <p:spPr>
          <a:xfrm>
            <a:off x="349424" y="315112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</a:rPr>
              <a:t>ジャストパリィ</a:t>
            </a:r>
          </a:p>
        </p:txBody>
      </p:sp>
      <p:sp>
        <p:nvSpPr>
          <p:cNvPr id="19" name="矢印: 左カーブ 18">
            <a:extLst>
              <a:ext uri="{FF2B5EF4-FFF2-40B4-BE49-F238E27FC236}">
                <a16:creationId xmlns:a16="http://schemas.microsoft.com/office/drawing/2014/main" id="{1282B3F6-AB38-F830-4672-FAD343A92902}"/>
              </a:ext>
            </a:extLst>
          </p:cNvPr>
          <p:cNvSpPr/>
          <p:nvPr/>
        </p:nvSpPr>
        <p:spPr>
          <a:xfrm>
            <a:off x="2156132" y="2602594"/>
            <a:ext cx="751062" cy="669320"/>
          </a:xfrm>
          <a:prstGeom prst="curvedLeftArrow">
            <a:avLst>
              <a:gd name="adj1" fmla="val 7136"/>
              <a:gd name="adj2" fmla="val 50000"/>
              <a:gd name="adj3" fmla="val 49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0" name="矢印: 左カーブ 19">
            <a:extLst>
              <a:ext uri="{FF2B5EF4-FFF2-40B4-BE49-F238E27FC236}">
                <a16:creationId xmlns:a16="http://schemas.microsoft.com/office/drawing/2014/main" id="{C6C6DFDD-4C43-46BD-2016-7B3B5E98E3A4}"/>
              </a:ext>
            </a:extLst>
          </p:cNvPr>
          <p:cNvSpPr/>
          <p:nvPr/>
        </p:nvSpPr>
        <p:spPr>
          <a:xfrm>
            <a:off x="2156132" y="1762237"/>
            <a:ext cx="751062" cy="669320"/>
          </a:xfrm>
          <a:prstGeom prst="curvedLeftArrow">
            <a:avLst>
              <a:gd name="adj1" fmla="val 7136"/>
              <a:gd name="adj2" fmla="val 50000"/>
              <a:gd name="adj3" fmla="val 49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21" name="矢印: 右 20">
            <a:extLst>
              <a:ext uri="{FF2B5EF4-FFF2-40B4-BE49-F238E27FC236}">
                <a16:creationId xmlns:a16="http://schemas.microsoft.com/office/drawing/2014/main" id="{FBFC7FD1-7C2D-D3A2-F4B1-71B4677DE861}"/>
              </a:ext>
            </a:extLst>
          </p:cNvPr>
          <p:cNvSpPr/>
          <p:nvPr/>
        </p:nvSpPr>
        <p:spPr>
          <a:xfrm rot="19399117">
            <a:off x="3848823" y="3055708"/>
            <a:ext cx="1567032" cy="9334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148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9E93D46-882E-8288-FE12-68783749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12" y="156632"/>
            <a:ext cx="8534400" cy="1507067"/>
          </a:xfrm>
        </p:spPr>
        <p:txBody>
          <a:bodyPr/>
          <a:lstStyle/>
          <a:p>
            <a:r>
              <a:rPr kumimoji="1" lang="ja-JP" altLang="en-US" b="1" dirty="0">
                <a:solidFill>
                  <a:schemeClr val="bg1"/>
                </a:solidFill>
              </a:rPr>
              <a:t>②スキル　バーストスキル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59FE8A1-15FE-275D-22C9-FC7D73B9C0C6}"/>
              </a:ext>
            </a:extLst>
          </p:cNvPr>
          <p:cNvSpPr txBox="1"/>
          <p:nvPr/>
        </p:nvSpPr>
        <p:spPr>
          <a:xfrm>
            <a:off x="635000" y="1739900"/>
            <a:ext cx="6487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https://www.youtube.com/watch?v=CEAfD8ggt4Y&amp;t=347s</a:t>
            </a:r>
            <a:endParaRPr kumimoji="1" lang="ja-JP" altLang="en-US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E958D0E-1403-E2D4-3D43-D6F3AA23ACDB}"/>
              </a:ext>
            </a:extLst>
          </p:cNvPr>
          <p:cNvSpPr txBox="1"/>
          <p:nvPr/>
        </p:nvSpPr>
        <p:spPr>
          <a:xfrm>
            <a:off x="635000" y="2552700"/>
            <a:ext cx="71096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まだ決めてない</a:t>
            </a:r>
            <a:r>
              <a:rPr kumimoji="1" lang="en-US" altLang="ja-JP" dirty="0"/>
              <a:t>(</a:t>
            </a:r>
            <a:r>
              <a:rPr kumimoji="1" lang="ja-JP" altLang="en-US" dirty="0"/>
              <a:t>特にスキル</a:t>
            </a:r>
            <a:r>
              <a:rPr kumimoji="1" lang="en-US" altLang="ja-JP" dirty="0"/>
              <a:t>)</a:t>
            </a:r>
          </a:p>
          <a:p>
            <a:r>
              <a:rPr kumimoji="1" lang="ja-JP" altLang="en-US" dirty="0"/>
              <a:t>スキル、バーストスキルには</a:t>
            </a:r>
            <a:br>
              <a:rPr kumimoji="1" lang="en-US" altLang="ja-JP" dirty="0"/>
            </a:br>
            <a:r>
              <a:rPr kumimoji="1" lang="ja-JP" altLang="en-US" dirty="0"/>
              <a:t>それぞれゲージがあり、これらは通常攻撃、回避、パリィでたまる</a:t>
            </a:r>
          </a:p>
        </p:txBody>
      </p:sp>
    </p:spTree>
    <p:extLst>
      <p:ext uri="{BB962C8B-B14F-4D97-AF65-F5344CB8AC3E}">
        <p14:creationId xmlns:p14="http://schemas.microsoft.com/office/powerpoint/2010/main" val="4012504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2D254F-9F7D-1FC6-634F-7B86CA522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残っていること</a:t>
            </a:r>
            <a:endParaRPr kumimoji="1" lang="en-US" altLang="ja-JP" dirty="0"/>
          </a:p>
          <a:p>
            <a:pPr lvl="1"/>
            <a:r>
              <a:rPr lang="ja-JP" altLang="en-US" dirty="0"/>
              <a:t>具体的な仕様固め</a:t>
            </a:r>
            <a:r>
              <a:rPr lang="en-US" altLang="ja-JP" dirty="0"/>
              <a:t>(</a:t>
            </a:r>
            <a:r>
              <a:rPr lang="ja-JP" altLang="en-US" dirty="0"/>
              <a:t>敵キャラは何を使うか</a:t>
            </a:r>
            <a:r>
              <a:rPr lang="en-US" altLang="ja-JP" dirty="0"/>
              <a:t>)</a:t>
            </a:r>
          </a:p>
          <a:p>
            <a:pPr lvl="1"/>
            <a:r>
              <a:rPr lang="ja-JP" altLang="en-US" dirty="0"/>
              <a:t>ブリンク、リパルスはするのかどうか</a:t>
            </a:r>
            <a:endParaRPr lang="en-US" altLang="ja-JP" dirty="0"/>
          </a:p>
          <a:p>
            <a:pPr lvl="1"/>
            <a:r>
              <a:rPr lang="ja-JP" altLang="en-US" dirty="0"/>
              <a:t>技構成、能力の詳細は上の</a:t>
            </a:r>
            <a:r>
              <a:rPr lang="en-US" altLang="ja-JP" dirty="0"/>
              <a:t>https//</a:t>
            </a:r>
            <a:r>
              <a:rPr lang="ja-JP" altLang="en-US" dirty="0"/>
              <a:t>にある</a:t>
            </a:r>
            <a:br>
              <a:rPr lang="en-US" altLang="ja-JP" dirty="0"/>
            </a:br>
            <a:endParaRPr kumimoji="1"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03623992"/>
      </p:ext>
    </p:extLst>
  </p:cSld>
  <p:clrMapOvr>
    <a:masterClrMapping/>
  </p:clrMapOvr>
</p:sld>
</file>

<file path=ppt/theme/theme1.xml><?xml version="1.0" encoding="utf-8"?>
<a:theme xmlns:a="http://schemas.openxmlformats.org/drawingml/2006/main" name="スライス">
  <a:themeElements>
    <a:clrScheme name="スライス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おすすめ">
      <a:majorFont>
        <a:latin typeface="游ゴシック Medium"/>
        <a:ea typeface="游ゴシック Medium"/>
        <a:cs typeface=""/>
      </a:majorFont>
      <a:minorFont>
        <a:latin typeface="游ゴシック Medium"/>
        <a:ea typeface="游ゴシック Medium"/>
        <a:cs typeface=""/>
      </a:minorFont>
    </a:fontScheme>
    <a:fmtScheme name="スライス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120</TotalTime>
  <Words>221</Words>
  <Application>Microsoft Office PowerPoint</Application>
  <PresentationFormat>ワイド画面</PresentationFormat>
  <Paragraphs>46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1" baseType="lpstr">
      <vt:lpstr>游ゴシック Medium</vt:lpstr>
      <vt:lpstr>Arial</vt:lpstr>
      <vt:lpstr>Wingdings 3</vt:lpstr>
      <vt:lpstr>スライス</vt:lpstr>
      <vt:lpstr>PowerPoint プレゼンテーション</vt:lpstr>
      <vt:lpstr>コンセプト</vt:lpstr>
      <vt:lpstr>ゲーム概要</vt:lpstr>
      <vt:lpstr>PowerPoint プレゼンテーション</vt:lpstr>
      <vt:lpstr>①ジャストパリィ</vt:lpstr>
      <vt:lpstr>②スキル　バーストスキル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平尾　泰稀</dc:creator>
  <cp:lastModifiedBy>平尾　泰稀</cp:lastModifiedBy>
  <cp:revision>2</cp:revision>
  <dcterms:created xsi:type="dcterms:W3CDTF">2026-05-20T11:29:17Z</dcterms:created>
  <dcterms:modified xsi:type="dcterms:W3CDTF">2026-05-20T13:31:46Z</dcterms:modified>
</cp:coreProperties>
</file>